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58" r:id="rId3"/>
    <p:sldId id="277" r:id="rId4"/>
    <p:sldId id="278" r:id="rId5"/>
    <p:sldId id="270" r:id="rId6"/>
    <p:sldId id="271" r:id="rId7"/>
    <p:sldId id="272" r:id="rId8"/>
    <p:sldId id="279" r:id="rId9"/>
    <p:sldId id="275" r:id="rId10"/>
    <p:sldId id="294" r:id="rId11"/>
    <p:sldId id="295" r:id="rId12"/>
    <p:sldId id="299" r:id="rId13"/>
    <p:sldId id="296" r:id="rId14"/>
    <p:sldId id="301" r:id="rId15"/>
    <p:sldId id="297" r:id="rId16"/>
    <p:sldId id="300" r:id="rId17"/>
    <p:sldId id="302" r:id="rId18"/>
    <p:sldId id="298" r:id="rId19"/>
    <p:sldId id="276"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67" r:id="rId35"/>
    <p:sldId id="274" r:id="rId36"/>
    <p:sldId id="26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96" d="100"/>
          <a:sy n="96" d="100"/>
        </p:scale>
        <p:origin x="1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FFC48A-40A8-4815-BA95-23178E6D29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a:extLst>
              <a:ext uri="{FF2B5EF4-FFF2-40B4-BE49-F238E27FC236}">
                <a16:creationId xmlns:a16="http://schemas.microsoft.com/office/drawing/2014/main" id="{030C60B8-AC82-45A9-82DA-49E3C3D8F3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2AD30-3EB1-44F3-99FC-CA174BE79D9D}" type="datetimeFigureOut">
              <a:rPr lang="en-IN" smtClean="0"/>
              <a:t>16-02-2026</a:t>
            </a:fld>
            <a:endParaRPr lang="en-IN"/>
          </a:p>
        </p:txBody>
      </p:sp>
      <p:sp>
        <p:nvSpPr>
          <p:cNvPr id="4" name="Footer Placeholder 3">
            <a:extLst>
              <a:ext uri="{FF2B5EF4-FFF2-40B4-BE49-F238E27FC236}">
                <a16:creationId xmlns:a16="http://schemas.microsoft.com/office/drawing/2014/main" id="{4B0A9232-31CD-406D-82AE-EA68BC6064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C2C502-FE3D-48CE-962A-D0C5905217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54DA78-81CE-4CDA-BCDF-F9A71A5A3A2B}" type="slidenum">
              <a:rPr lang="en-IN" smtClean="0"/>
              <a:t>‹#›</a:t>
            </a:fld>
            <a:endParaRPr lang="en-IN"/>
          </a:p>
        </p:txBody>
      </p:sp>
    </p:spTree>
    <p:extLst>
      <p:ext uri="{BB962C8B-B14F-4D97-AF65-F5344CB8AC3E}">
        <p14:creationId xmlns:p14="http://schemas.microsoft.com/office/powerpoint/2010/main" val="1579651629"/>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18E6E-0D61-4A63-AE58-B654B59B306F}"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FFA8-44D0-41D2-B252-050984594A0C}" type="slidenum">
              <a:rPr lang="en-IN" smtClean="0"/>
              <a:t>‹#›</a:t>
            </a:fld>
            <a:endParaRPr lang="en-IN"/>
          </a:p>
        </p:txBody>
      </p:sp>
    </p:spTree>
    <p:extLst>
      <p:ext uri="{BB962C8B-B14F-4D97-AF65-F5344CB8AC3E}">
        <p14:creationId xmlns:p14="http://schemas.microsoft.com/office/powerpoint/2010/main" val="382749563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F19C-4D3B-4283-B632-5CFB8FB95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E01616-88CA-4437-B1B8-62F6DEE62A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F3850B-84AC-47FE-8838-BED318289AFF}"/>
              </a:ext>
            </a:extLst>
          </p:cNvPr>
          <p:cNvSpPr>
            <a:spLocks noGrp="1"/>
          </p:cNvSpPr>
          <p:nvPr>
            <p:ph type="dt" sz="half" idx="10"/>
          </p:nvPr>
        </p:nvSpPr>
        <p:spPr/>
        <p:txBody>
          <a:bodyPr/>
          <a:lstStyle/>
          <a:p>
            <a:fld id="{7B4479E0-AE4B-443A-B706-E9336E2A033A}" type="datetime1">
              <a:rPr lang="en-IN" smtClean="0"/>
              <a:t>16-02-2026</a:t>
            </a:fld>
            <a:endParaRPr lang="en-IN"/>
          </a:p>
        </p:txBody>
      </p:sp>
      <p:sp>
        <p:nvSpPr>
          <p:cNvPr id="5" name="Footer Placeholder 4">
            <a:extLst>
              <a:ext uri="{FF2B5EF4-FFF2-40B4-BE49-F238E27FC236}">
                <a16:creationId xmlns:a16="http://schemas.microsoft.com/office/drawing/2014/main" id="{A34EC73D-0A8A-4950-9FD7-487AC00EA584}"/>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F5618BE-0643-45DA-993E-5938F8F8B2D6}"/>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11450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83C3-5D56-47C4-BAAA-0AEE6B039F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05191E-F147-465C-B1BC-F3192025C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84D21-8E56-4941-93C0-57B67E22C5FD}"/>
              </a:ext>
            </a:extLst>
          </p:cNvPr>
          <p:cNvSpPr>
            <a:spLocks noGrp="1"/>
          </p:cNvSpPr>
          <p:nvPr>
            <p:ph type="dt" sz="half" idx="10"/>
          </p:nvPr>
        </p:nvSpPr>
        <p:spPr/>
        <p:txBody>
          <a:bodyPr/>
          <a:lstStyle/>
          <a:p>
            <a:fld id="{DCD3C179-F1B2-4AC4-B918-797EED3C2BBC}" type="datetime1">
              <a:rPr lang="en-IN" smtClean="0"/>
              <a:t>16-02-2026</a:t>
            </a:fld>
            <a:endParaRPr lang="en-IN"/>
          </a:p>
        </p:txBody>
      </p:sp>
      <p:sp>
        <p:nvSpPr>
          <p:cNvPr id="5" name="Footer Placeholder 4">
            <a:extLst>
              <a:ext uri="{FF2B5EF4-FFF2-40B4-BE49-F238E27FC236}">
                <a16:creationId xmlns:a16="http://schemas.microsoft.com/office/drawing/2014/main" id="{CD79476B-12F5-4CE0-8BED-CC7E02D051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2A82A1D1-2DC0-4EB9-B1C0-3D0A17261884}"/>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2406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3532-2579-487E-A806-FE059BC2E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1D22E9-2061-45FA-973E-DC229F8B3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E1C65-23E2-4167-B173-FA4734A19564}"/>
              </a:ext>
            </a:extLst>
          </p:cNvPr>
          <p:cNvSpPr>
            <a:spLocks noGrp="1"/>
          </p:cNvSpPr>
          <p:nvPr>
            <p:ph type="dt" sz="half" idx="10"/>
          </p:nvPr>
        </p:nvSpPr>
        <p:spPr/>
        <p:txBody>
          <a:bodyPr/>
          <a:lstStyle/>
          <a:p>
            <a:fld id="{F4F31B55-9E00-4A1A-BBAC-863EF197F6B9}" type="datetime1">
              <a:rPr lang="en-IN" smtClean="0"/>
              <a:t>16-02-2026</a:t>
            </a:fld>
            <a:endParaRPr lang="en-IN"/>
          </a:p>
        </p:txBody>
      </p:sp>
      <p:sp>
        <p:nvSpPr>
          <p:cNvPr id="5" name="Footer Placeholder 4">
            <a:extLst>
              <a:ext uri="{FF2B5EF4-FFF2-40B4-BE49-F238E27FC236}">
                <a16:creationId xmlns:a16="http://schemas.microsoft.com/office/drawing/2014/main" id="{FD3BCE50-78C6-4AF3-8C31-1792D834EE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757E728E-FD97-4282-985C-0A8FA934812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75906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8648D-8839-402E-8EBE-66C675551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9641E8-F7C7-4F72-83E8-E8E8F3A89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211418-08AA-441A-8A66-97EDBEE0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3319B3-62E9-4A88-A05B-55A69EF5135C}"/>
              </a:ext>
            </a:extLst>
          </p:cNvPr>
          <p:cNvSpPr>
            <a:spLocks noGrp="1"/>
          </p:cNvSpPr>
          <p:nvPr>
            <p:ph type="dt" sz="half" idx="10"/>
          </p:nvPr>
        </p:nvSpPr>
        <p:spPr/>
        <p:txBody>
          <a:bodyPr/>
          <a:lstStyle/>
          <a:p>
            <a:fld id="{F2EBF340-A21F-4D97-85F1-0DFB22960BCF}" type="datetime1">
              <a:rPr lang="en-IN" smtClean="0"/>
              <a:t>16-02-2026</a:t>
            </a:fld>
            <a:endParaRPr lang="en-IN"/>
          </a:p>
        </p:txBody>
      </p:sp>
      <p:sp>
        <p:nvSpPr>
          <p:cNvPr id="6" name="Footer Placeholder 5">
            <a:extLst>
              <a:ext uri="{FF2B5EF4-FFF2-40B4-BE49-F238E27FC236}">
                <a16:creationId xmlns:a16="http://schemas.microsoft.com/office/drawing/2014/main" id="{5ABF91A1-5E44-452F-A78A-FBA5E47F43F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CEF1FC47-031D-4E2A-B90F-BE2FE414202B}"/>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85720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A536-4AE1-4490-9878-471FF125AA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16612D-5A89-4E9A-90B8-BF7FFA8A8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0DF513-E926-411D-8D2B-8831CD309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BBC415-A031-49A9-9DAD-F150409D1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F0D390-93EF-4E83-9F5B-91286149D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8EC721-76DC-43AF-96DF-A0EE7072BAEC}"/>
              </a:ext>
            </a:extLst>
          </p:cNvPr>
          <p:cNvSpPr>
            <a:spLocks noGrp="1"/>
          </p:cNvSpPr>
          <p:nvPr>
            <p:ph type="dt" sz="half" idx="10"/>
          </p:nvPr>
        </p:nvSpPr>
        <p:spPr/>
        <p:txBody>
          <a:bodyPr/>
          <a:lstStyle/>
          <a:p>
            <a:fld id="{291E6A22-C21D-42F5-A451-C3B1D54F9ACD}" type="datetime1">
              <a:rPr lang="en-IN" smtClean="0"/>
              <a:t>16-02-2026</a:t>
            </a:fld>
            <a:endParaRPr lang="en-IN"/>
          </a:p>
        </p:txBody>
      </p:sp>
      <p:sp>
        <p:nvSpPr>
          <p:cNvPr id="8" name="Footer Placeholder 7">
            <a:extLst>
              <a:ext uri="{FF2B5EF4-FFF2-40B4-BE49-F238E27FC236}">
                <a16:creationId xmlns:a16="http://schemas.microsoft.com/office/drawing/2014/main" id="{DCB44597-18DE-4775-8FB6-A97F0DA48910}"/>
              </a:ext>
            </a:extLst>
          </p:cNvPr>
          <p:cNvSpPr>
            <a:spLocks noGrp="1"/>
          </p:cNvSpPr>
          <p:nvPr>
            <p:ph type="ftr" sz="quarter" idx="11"/>
          </p:nvPr>
        </p:nvSpPr>
        <p:spPr/>
        <p:txBody>
          <a:bodyPr/>
          <a:lstStyle/>
          <a:p>
            <a:r>
              <a:rPr lang="en-IN"/>
              <a:t>ICICC-2021</a:t>
            </a:r>
          </a:p>
        </p:txBody>
      </p:sp>
      <p:sp>
        <p:nvSpPr>
          <p:cNvPr id="9" name="Slide Number Placeholder 8">
            <a:extLst>
              <a:ext uri="{FF2B5EF4-FFF2-40B4-BE49-F238E27FC236}">
                <a16:creationId xmlns:a16="http://schemas.microsoft.com/office/drawing/2014/main" id="{2CC72141-DE0D-4AEB-B511-CB9B54FD6F3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52167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12DF-0ED8-4277-B395-2A4F842B7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0E3D8E-0ABE-4734-98F8-D36BD9940E0A}"/>
              </a:ext>
            </a:extLst>
          </p:cNvPr>
          <p:cNvSpPr>
            <a:spLocks noGrp="1"/>
          </p:cNvSpPr>
          <p:nvPr>
            <p:ph type="dt" sz="half" idx="10"/>
          </p:nvPr>
        </p:nvSpPr>
        <p:spPr/>
        <p:txBody>
          <a:bodyPr/>
          <a:lstStyle/>
          <a:p>
            <a:fld id="{40EF2A80-8EEB-43B2-B954-2445775909FC}" type="datetime1">
              <a:rPr lang="en-IN" smtClean="0"/>
              <a:t>16-02-2026</a:t>
            </a:fld>
            <a:endParaRPr lang="en-IN"/>
          </a:p>
        </p:txBody>
      </p:sp>
      <p:sp>
        <p:nvSpPr>
          <p:cNvPr id="4" name="Footer Placeholder 3">
            <a:extLst>
              <a:ext uri="{FF2B5EF4-FFF2-40B4-BE49-F238E27FC236}">
                <a16:creationId xmlns:a16="http://schemas.microsoft.com/office/drawing/2014/main" id="{510561F1-B38C-461E-85F3-2481751D02A6}"/>
              </a:ext>
            </a:extLst>
          </p:cNvPr>
          <p:cNvSpPr>
            <a:spLocks noGrp="1"/>
          </p:cNvSpPr>
          <p:nvPr>
            <p:ph type="ftr" sz="quarter" idx="11"/>
          </p:nvPr>
        </p:nvSpPr>
        <p:spPr/>
        <p:txBody>
          <a:bodyPr/>
          <a:lstStyle/>
          <a:p>
            <a:r>
              <a:rPr lang="en-IN"/>
              <a:t>ICICC-2021</a:t>
            </a:r>
          </a:p>
        </p:txBody>
      </p:sp>
      <p:sp>
        <p:nvSpPr>
          <p:cNvPr id="5" name="Slide Number Placeholder 4">
            <a:extLst>
              <a:ext uri="{FF2B5EF4-FFF2-40B4-BE49-F238E27FC236}">
                <a16:creationId xmlns:a16="http://schemas.microsoft.com/office/drawing/2014/main" id="{2E712915-E4FE-415C-9D69-B845A7D83F48}"/>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4736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22E84-AD5B-465F-98D4-488F871AAF00}"/>
              </a:ext>
            </a:extLst>
          </p:cNvPr>
          <p:cNvSpPr>
            <a:spLocks noGrp="1"/>
          </p:cNvSpPr>
          <p:nvPr>
            <p:ph type="dt" sz="half" idx="10"/>
          </p:nvPr>
        </p:nvSpPr>
        <p:spPr/>
        <p:txBody>
          <a:bodyPr/>
          <a:lstStyle/>
          <a:p>
            <a:fld id="{F5566693-10B5-4C2E-88F6-1EF5588C2197}" type="datetime1">
              <a:rPr lang="en-IN" smtClean="0"/>
              <a:t>16-02-2026</a:t>
            </a:fld>
            <a:endParaRPr lang="en-IN"/>
          </a:p>
        </p:txBody>
      </p:sp>
      <p:sp>
        <p:nvSpPr>
          <p:cNvPr id="3" name="Footer Placeholder 2">
            <a:extLst>
              <a:ext uri="{FF2B5EF4-FFF2-40B4-BE49-F238E27FC236}">
                <a16:creationId xmlns:a16="http://schemas.microsoft.com/office/drawing/2014/main" id="{1886C86A-862E-4B6A-B263-B01DE6A5BC64}"/>
              </a:ext>
            </a:extLst>
          </p:cNvPr>
          <p:cNvSpPr>
            <a:spLocks noGrp="1"/>
          </p:cNvSpPr>
          <p:nvPr>
            <p:ph type="ftr" sz="quarter" idx="11"/>
          </p:nvPr>
        </p:nvSpPr>
        <p:spPr/>
        <p:txBody>
          <a:bodyPr/>
          <a:lstStyle/>
          <a:p>
            <a:r>
              <a:rPr lang="en-IN"/>
              <a:t>ICICC-2021</a:t>
            </a:r>
          </a:p>
        </p:txBody>
      </p:sp>
      <p:sp>
        <p:nvSpPr>
          <p:cNvPr id="4" name="Slide Number Placeholder 3">
            <a:extLst>
              <a:ext uri="{FF2B5EF4-FFF2-40B4-BE49-F238E27FC236}">
                <a16:creationId xmlns:a16="http://schemas.microsoft.com/office/drawing/2014/main" id="{A62333FC-1B71-4E52-BF49-4D36D092009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60383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CCDE-35D4-412E-AFAB-C219873FE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7E1492-B8B6-4708-A8C8-A138B0633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00379-D005-4BAC-B925-C13204308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B0578-F2D9-4D73-83B2-F23670EBE97A}"/>
              </a:ext>
            </a:extLst>
          </p:cNvPr>
          <p:cNvSpPr>
            <a:spLocks noGrp="1"/>
          </p:cNvSpPr>
          <p:nvPr>
            <p:ph type="dt" sz="half" idx="10"/>
          </p:nvPr>
        </p:nvSpPr>
        <p:spPr/>
        <p:txBody>
          <a:bodyPr/>
          <a:lstStyle/>
          <a:p>
            <a:fld id="{0B3F409E-ABE5-44AA-B093-FDB870F5DE32}" type="datetime1">
              <a:rPr lang="en-IN" smtClean="0"/>
              <a:t>16-02-2026</a:t>
            </a:fld>
            <a:endParaRPr lang="en-IN"/>
          </a:p>
        </p:txBody>
      </p:sp>
      <p:sp>
        <p:nvSpPr>
          <p:cNvPr id="6" name="Footer Placeholder 5">
            <a:extLst>
              <a:ext uri="{FF2B5EF4-FFF2-40B4-BE49-F238E27FC236}">
                <a16:creationId xmlns:a16="http://schemas.microsoft.com/office/drawing/2014/main" id="{C24F134B-4FB5-46E9-8513-DB4C9B2EE88F}"/>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F0EE61B3-BD8A-43AB-BB10-5B53A90AD79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9417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223D-FF11-4AE7-973E-C90327524F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DF81C-EE9D-4D7F-A967-067231447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53EF43-9D88-4586-A760-098C1475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BD912-76F0-4805-9E0D-7C09F249E8E9}"/>
              </a:ext>
            </a:extLst>
          </p:cNvPr>
          <p:cNvSpPr>
            <a:spLocks noGrp="1"/>
          </p:cNvSpPr>
          <p:nvPr>
            <p:ph type="dt" sz="half" idx="10"/>
          </p:nvPr>
        </p:nvSpPr>
        <p:spPr/>
        <p:txBody>
          <a:bodyPr/>
          <a:lstStyle/>
          <a:p>
            <a:fld id="{E116C6B4-82D6-4D23-BAFE-D8055255E829}" type="datetime1">
              <a:rPr lang="en-IN" smtClean="0"/>
              <a:t>16-02-2026</a:t>
            </a:fld>
            <a:endParaRPr lang="en-IN"/>
          </a:p>
        </p:txBody>
      </p:sp>
      <p:sp>
        <p:nvSpPr>
          <p:cNvPr id="6" name="Footer Placeholder 5">
            <a:extLst>
              <a:ext uri="{FF2B5EF4-FFF2-40B4-BE49-F238E27FC236}">
                <a16:creationId xmlns:a16="http://schemas.microsoft.com/office/drawing/2014/main" id="{BA50FEFC-E6F0-4221-8F91-DEE76671F22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770A78C8-FCAB-43A2-9CE6-A2768B5DABF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8263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5A84-E335-48CC-A676-05D91F6A70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60F8BF-FFBC-41F7-B2B0-2CF3804EE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5955D-CA90-44D7-BF8E-BC38A3F36D97}"/>
              </a:ext>
            </a:extLst>
          </p:cNvPr>
          <p:cNvSpPr>
            <a:spLocks noGrp="1"/>
          </p:cNvSpPr>
          <p:nvPr>
            <p:ph type="dt" sz="half" idx="10"/>
          </p:nvPr>
        </p:nvSpPr>
        <p:spPr/>
        <p:txBody>
          <a:bodyPr/>
          <a:lstStyle/>
          <a:p>
            <a:fld id="{36A61C40-9A28-4915-87D9-F21430F4582D}" type="datetime1">
              <a:rPr lang="en-IN" smtClean="0"/>
              <a:t>16-02-2026</a:t>
            </a:fld>
            <a:endParaRPr lang="en-IN"/>
          </a:p>
        </p:txBody>
      </p:sp>
      <p:sp>
        <p:nvSpPr>
          <p:cNvPr id="5" name="Footer Placeholder 4">
            <a:extLst>
              <a:ext uri="{FF2B5EF4-FFF2-40B4-BE49-F238E27FC236}">
                <a16:creationId xmlns:a16="http://schemas.microsoft.com/office/drawing/2014/main" id="{870CB078-D83E-4166-A02C-B6B163DA9360}"/>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CF2FEF6-C837-419F-8835-DC22EF83E19E}"/>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27120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401E9-8805-42DB-AC72-2AE0FF03F7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EB009-1E61-4516-B850-2D2767C6B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E6585-E3B2-43BE-AAE1-443822B2FC44}"/>
              </a:ext>
            </a:extLst>
          </p:cNvPr>
          <p:cNvSpPr>
            <a:spLocks noGrp="1"/>
          </p:cNvSpPr>
          <p:nvPr>
            <p:ph type="dt" sz="half" idx="10"/>
          </p:nvPr>
        </p:nvSpPr>
        <p:spPr/>
        <p:txBody>
          <a:bodyPr/>
          <a:lstStyle/>
          <a:p>
            <a:fld id="{93774F61-A72D-47AB-B4C3-4F43AD0A32CC}" type="datetime1">
              <a:rPr lang="en-IN" smtClean="0"/>
              <a:t>16-02-2026</a:t>
            </a:fld>
            <a:endParaRPr lang="en-IN"/>
          </a:p>
        </p:txBody>
      </p:sp>
      <p:sp>
        <p:nvSpPr>
          <p:cNvPr id="5" name="Footer Placeholder 4">
            <a:extLst>
              <a:ext uri="{FF2B5EF4-FFF2-40B4-BE49-F238E27FC236}">
                <a16:creationId xmlns:a16="http://schemas.microsoft.com/office/drawing/2014/main" id="{788DC36A-90BB-45C6-86EC-EF77DE5E67FC}"/>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95E6A805-3800-4CB1-9ADA-94754454EBC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74983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EB43A-BD9E-4874-BFFB-60C4AC61A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76C3F-335A-4DB7-9751-C78105CE3F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7C449-54C2-463E-BDDF-5F5299CBA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91507-B170-49D3-AC27-6346FE1BA60C}" type="datetime1">
              <a:rPr lang="en-IN" smtClean="0"/>
              <a:t>16-02-2026</a:t>
            </a:fld>
            <a:endParaRPr lang="en-IN"/>
          </a:p>
        </p:txBody>
      </p:sp>
      <p:sp>
        <p:nvSpPr>
          <p:cNvPr id="5" name="Footer Placeholder 4">
            <a:extLst>
              <a:ext uri="{FF2B5EF4-FFF2-40B4-BE49-F238E27FC236}">
                <a16:creationId xmlns:a16="http://schemas.microsoft.com/office/drawing/2014/main" id="{E9337EE8-8318-4653-A49C-0E3AAA3CE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ICICC-2021</a:t>
            </a:r>
          </a:p>
        </p:txBody>
      </p:sp>
      <p:sp>
        <p:nvSpPr>
          <p:cNvPr id="6" name="Slide Number Placeholder 5">
            <a:extLst>
              <a:ext uri="{FF2B5EF4-FFF2-40B4-BE49-F238E27FC236}">
                <a16:creationId xmlns:a16="http://schemas.microsoft.com/office/drawing/2014/main" id="{B85FA26E-3201-463F-ACF3-CBF98D3B2E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7CD7D-2DE7-4E97-993E-733569484B37}" type="slidenum">
              <a:rPr lang="en-IN" smtClean="0"/>
              <a:t>‹#›</a:t>
            </a:fld>
            <a:endParaRPr lang="en-IN"/>
          </a:p>
        </p:txBody>
      </p:sp>
    </p:spTree>
    <p:extLst>
      <p:ext uri="{BB962C8B-B14F-4D97-AF65-F5344CB8AC3E}">
        <p14:creationId xmlns:p14="http://schemas.microsoft.com/office/powerpoint/2010/main" val="787771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kaggle.com/datasets/ronitf/heart-disease-uci"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174594" y="1498923"/>
            <a:ext cx="11842810" cy="4625069"/>
          </a:xfrm>
        </p:spPr>
        <p:txBody>
          <a:bodyPr/>
          <a:lstStyle/>
          <a:p>
            <a:endParaRPr lang="en-IN" sz="1400" dirty="0">
              <a:latin typeface="Comic Sans MS" panose="030F0702030302020204" pitchFamily="66" charset="0"/>
            </a:endParaRPr>
          </a:p>
          <a:p>
            <a:endParaRPr lang="en-IN" sz="1400" dirty="0">
              <a:latin typeface="Comic Sans MS" panose="030F0702030302020204" pitchFamily="66" charset="0"/>
            </a:endParaRPr>
          </a:p>
          <a:p>
            <a:r>
              <a:rPr lang="en-US" sz="3200" dirty="0"/>
              <a:t>Smart Healthcare System using AI and Blockchain for Heart Disease</a:t>
            </a:r>
            <a:endParaRPr lang="en-IN" sz="3200" dirty="0">
              <a:latin typeface="Times New Roman" panose="02020603050405020304" pitchFamily="18" charset="0"/>
              <a:cs typeface="Times New Roman" panose="02020603050405020304" pitchFamily="18" charset="0"/>
            </a:endParaRPr>
          </a:p>
          <a:p>
            <a:endParaRPr lang="en-IN" sz="1400" dirty="0">
              <a:latin typeface="Comic Sans MS" panose="030F0702030302020204" pitchFamily="66" charset="0"/>
            </a:endParaRPr>
          </a:p>
          <a:p>
            <a:endParaRPr lang="en-IN" sz="1800" dirty="0">
              <a:latin typeface="Comic Sans MS" panose="030F0702030302020204" pitchFamily="66" charset="0"/>
            </a:endParaRPr>
          </a:p>
          <a:p>
            <a:r>
              <a:rPr lang="en-IN" sz="1800" dirty="0">
                <a:latin typeface="Comic Sans MS" panose="030F0702030302020204" pitchFamily="66" charset="0"/>
              </a:rPr>
              <a:t>                                                     </a:t>
            </a:r>
          </a:p>
          <a:p>
            <a:r>
              <a:rPr lang="en-IN" sz="1800" dirty="0">
                <a:latin typeface="Comic Sans MS" panose="030F0702030302020204" pitchFamily="66" charset="0"/>
              </a:rPr>
              <a:t>                                                               Project Guide</a:t>
            </a:r>
          </a:p>
          <a:p>
            <a:r>
              <a:rPr lang="en-IN" dirty="0"/>
              <a:t>                                                                    </a:t>
            </a:r>
            <a:r>
              <a:rPr lang="en-IN" sz="2000" dirty="0"/>
              <a:t>MR. Y. DURGA PRASAD</a:t>
            </a:r>
          </a:p>
          <a:p>
            <a:r>
              <a:rPr lang="en-IN" sz="2000" dirty="0"/>
              <a:t>                                                                                                     M. Tech(PhD), Associate Professor </a:t>
            </a:r>
            <a:endParaRPr lang="en-US" sz="2000" dirty="0"/>
          </a:p>
          <a:p>
            <a:r>
              <a:rPr lang="en-IN" sz="1800" dirty="0">
                <a:latin typeface="Comic Sans MS" panose="030F0702030302020204" pitchFamily="66" charset="0"/>
              </a:rPr>
              <a:t>                                                                 </a:t>
            </a:r>
          </a:p>
          <a:p>
            <a:endParaRPr lang="en-IN" sz="3200" dirty="0">
              <a:latin typeface="Comic Sans MS" panose="030F0702030302020204" pitchFamily="66" charset="0"/>
            </a:endParaRPr>
          </a:p>
          <a:p>
            <a:endParaRPr lang="en-IN" sz="1800" dirty="0">
              <a:latin typeface="Comic Sans MS" panose="030F0702030302020204" pitchFamily="66" charset="0"/>
            </a:endParaRPr>
          </a:p>
          <a:p>
            <a:endParaRPr lang="en-IN" sz="1800" dirty="0">
              <a:latin typeface="Comic Sans MS" panose="030F0702030302020204" pitchFamily="66" charset="0"/>
            </a:endParaRPr>
          </a:p>
          <a:p>
            <a:endParaRPr lang="en-IN" sz="1400" dirty="0">
              <a:latin typeface="Comic Sans MS" panose="030F0702030302020204" pitchFamily="66" charset="0"/>
            </a:endParaRPr>
          </a:p>
        </p:txBody>
      </p:sp>
      <p:sp>
        <p:nvSpPr>
          <p:cNvPr id="5" name="TextBox 4">
            <a:extLst>
              <a:ext uri="{FF2B5EF4-FFF2-40B4-BE49-F238E27FC236}">
                <a16:creationId xmlns:a16="http://schemas.microsoft.com/office/drawing/2014/main" id="{ECBFBF4D-9700-E465-9346-B4330DFF6956}"/>
              </a:ext>
            </a:extLst>
          </p:cNvPr>
          <p:cNvSpPr txBox="1"/>
          <p:nvPr/>
        </p:nvSpPr>
        <p:spPr>
          <a:xfrm>
            <a:off x="2671316" y="-203185"/>
            <a:ext cx="6429466" cy="1569660"/>
          </a:xfrm>
          <a:prstGeom prst="rect">
            <a:avLst/>
          </a:prstGeom>
          <a:noFill/>
        </p:spPr>
        <p:txBody>
          <a:bodyPr wrap="square" rtlCol="0">
            <a:spAutoFit/>
          </a:bodyPr>
          <a:lstStyle/>
          <a:p>
            <a:pPr algn="ctr"/>
            <a:endParaRPr lang="en-IN" sz="2400" b="1" dirty="0">
              <a:solidFill>
                <a:srgbClr val="0070C0"/>
              </a:solidFill>
            </a:endParaRPr>
          </a:p>
          <a:p>
            <a:pPr algn="ctr"/>
            <a:endParaRPr lang="en-IN" sz="2400" b="1" dirty="0">
              <a:solidFill>
                <a:srgbClr val="0070C0"/>
              </a:solidFill>
            </a:endParaRPr>
          </a:p>
          <a:p>
            <a:pPr algn="ctr"/>
            <a:endParaRPr lang="en-IN" sz="2400" b="1" dirty="0">
              <a:solidFill>
                <a:srgbClr val="0070C0"/>
              </a:solidFill>
            </a:endParaRPr>
          </a:p>
          <a:p>
            <a:pPr algn="ctr"/>
            <a:r>
              <a:rPr lang="en-IN" sz="2400" b="1" dirty="0">
                <a:solidFill>
                  <a:srgbClr val="0070C0"/>
                </a:solidFill>
              </a:rPr>
              <a:t>Review-2</a:t>
            </a:r>
          </a:p>
        </p:txBody>
      </p:sp>
      <p:pic>
        <p:nvPicPr>
          <p:cNvPr id="2" name="image5.jpeg">
            <a:extLst>
              <a:ext uri="{FF2B5EF4-FFF2-40B4-BE49-F238E27FC236}">
                <a16:creationId xmlns:a16="http://schemas.microsoft.com/office/drawing/2014/main" id="{5E42BB2B-4852-DADE-44C4-6B6A53357E32}"/>
              </a:ext>
            </a:extLst>
          </p:cNvPr>
          <p:cNvPicPr>
            <a:picLocks noChangeAspect="1"/>
          </p:cNvPicPr>
          <p:nvPr/>
        </p:nvPicPr>
        <p:blipFill>
          <a:blip r:embed="rId2" cstate="print"/>
          <a:stretch>
            <a:fillRect/>
          </a:stretch>
        </p:blipFill>
        <p:spPr>
          <a:xfrm>
            <a:off x="2881267" y="66996"/>
            <a:ext cx="6429465" cy="897296"/>
          </a:xfrm>
          <a:prstGeom prst="rect">
            <a:avLst/>
          </a:prstGeom>
        </p:spPr>
      </p:pic>
      <p:sp>
        <p:nvSpPr>
          <p:cNvPr id="4" name="Subtitle 2">
            <a:extLst>
              <a:ext uri="{FF2B5EF4-FFF2-40B4-BE49-F238E27FC236}">
                <a16:creationId xmlns:a16="http://schemas.microsoft.com/office/drawing/2014/main" id="{711B51E8-FAB1-F561-0061-B4999421BB9C}"/>
              </a:ext>
            </a:extLst>
          </p:cNvPr>
          <p:cNvSpPr txBox="1">
            <a:spLocks/>
          </p:cNvSpPr>
          <p:nvPr/>
        </p:nvSpPr>
        <p:spPr>
          <a:xfrm>
            <a:off x="313899" y="2988860"/>
            <a:ext cx="11273050" cy="29026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2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Submitted by</a:t>
            </a:r>
          </a:p>
          <a:p>
            <a:pPr algn="l"/>
            <a:r>
              <a:rPr lang="en-US" sz="2000" dirty="0">
                <a:latin typeface="Times New Roman" panose="02020603050405020304" pitchFamily="18" charset="0"/>
                <a:cs typeface="Times New Roman" panose="02020603050405020304" pitchFamily="18" charset="0"/>
              </a:rPr>
              <a:t>Shakthi Vamsi –    22MH1A0547</a:t>
            </a:r>
          </a:p>
          <a:p>
            <a:pPr algn="l"/>
            <a:r>
              <a:rPr lang="en-US" sz="2000" dirty="0">
                <a:latin typeface="Times New Roman" panose="02020603050405020304" pitchFamily="18" charset="0"/>
                <a:cs typeface="Times New Roman" panose="02020603050405020304" pitchFamily="18" charset="0"/>
              </a:rPr>
              <a:t>Sombabu Patel –   22MH1A0569</a:t>
            </a:r>
          </a:p>
          <a:p>
            <a:pPr algn="l"/>
            <a:r>
              <a:rPr lang="en-US" sz="2000" dirty="0">
                <a:latin typeface="Times New Roman" panose="02020603050405020304" pitchFamily="18" charset="0"/>
                <a:cs typeface="Times New Roman" panose="02020603050405020304" pitchFamily="18" charset="0"/>
              </a:rPr>
              <a:t>Sujal Sourav –      22MH1A0570</a:t>
            </a:r>
          </a:p>
          <a:p>
            <a:pPr algn="l"/>
            <a:r>
              <a:rPr lang="en-US" sz="2000" dirty="0">
                <a:latin typeface="Times New Roman" panose="02020603050405020304" pitchFamily="18" charset="0"/>
                <a:cs typeface="Times New Roman" panose="02020603050405020304" pitchFamily="18" charset="0"/>
              </a:rPr>
              <a:t>Ayyappa Reddy – 22MH1A0571</a:t>
            </a:r>
          </a:p>
          <a:p>
            <a:r>
              <a:rPr lang="en-US" sz="3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81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122831" y="956479"/>
            <a:ext cx="11791886" cy="5901521"/>
          </a:xfrm>
        </p:spPr>
        <p:txBody>
          <a:bodyPr>
            <a:normAutofit fontScale="85000" lnSpcReduction="20000"/>
          </a:bodyPr>
          <a:lstStyle/>
          <a:p>
            <a:pPr algn="l"/>
            <a:r>
              <a:rPr lang="en-IN" dirty="0">
                <a:latin typeface="Times New Roman" panose="02020603050405020304" pitchFamily="18" charset="0"/>
                <a:cs typeface="Times New Roman" panose="02020603050405020304" pitchFamily="18" charset="0"/>
              </a:rPr>
              <a:t> </a:t>
            </a:r>
            <a:r>
              <a:rPr lang="en-IN" sz="4400" dirty="0">
                <a:latin typeface="+mj-lt"/>
                <a:cs typeface="Times New Roman" panose="02020603050405020304" pitchFamily="18" charset="0"/>
              </a:rPr>
              <a:t>INDEX</a:t>
            </a:r>
          </a:p>
          <a:p>
            <a:pPr algn="l"/>
            <a:r>
              <a:rPr lang="en-US" dirty="0"/>
              <a:t>1.   Abstract</a:t>
            </a:r>
          </a:p>
          <a:p>
            <a:pPr algn="l"/>
            <a:r>
              <a:rPr lang="en-US" dirty="0"/>
              <a:t>2.   Introduction</a:t>
            </a:r>
          </a:p>
          <a:p>
            <a:pPr algn="l"/>
            <a:r>
              <a:rPr lang="en-US" dirty="0"/>
              <a:t>3.   Objectives</a:t>
            </a:r>
          </a:p>
          <a:p>
            <a:pPr algn="l"/>
            <a:r>
              <a:rPr lang="en-US" dirty="0"/>
              <a:t>4.    Existing System</a:t>
            </a:r>
          </a:p>
          <a:p>
            <a:pPr algn="l"/>
            <a:r>
              <a:rPr lang="en-US" dirty="0"/>
              <a:t>5.    Proposed System</a:t>
            </a:r>
          </a:p>
          <a:p>
            <a:pPr marL="457200" indent="-457200" algn="l">
              <a:buAutoNum type="arabicPeriod" startAt="6"/>
            </a:pPr>
            <a:r>
              <a:rPr lang="en-US" dirty="0"/>
              <a:t>Comparative Table</a:t>
            </a:r>
          </a:p>
          <a:p>
            <a:pPr marL="457200" indent="-457200" algn="l">
              <a:buAutoNum type="arabicPeriod" startAt="6"/>
            </a:pPr>
            <a:r>
              <a:rPr lang="en-US" dirty="0"/>
              <a:t>Features of the proposed system</a:t>
            </a:r>
          </a:p>
          <a:p>
            <a:pPr marL="457200" indent="-457200" algn="l">
              <a:buAutoNum type="arabicPeriod" startAt="6"/>
            </a:pPr>
            <a:r>
              <a:rPr lang="en-US" dirty="0"/>
              <a:t>System Architecture</a:t>
            </a:r>
          </a:p>
          <a:p>
            <a:pPr marL="457200" indent="-457200" algn="l">
              <a:buAutoNum type="arabicPeriod" startAt="6"/>
            </a:pPr>
            <a:r>
              <a:rPr lang="en-US" dirty="0"/>
              <a:t>Tech Stack used</a:t>
            </a:r>
          </a:p>
          <a:p>
            <a:pPr marL="457200" indent="-457200" algn="l">
              <a:buAutoNum type="arabicPeriod" startAt="6"/>
            </a:pPr>
            <a:r>
              <a:rPr lang="en-US" dirty="0"/>
              <a:t>UML Diagrams</a:t>
            </a:r>
          </a:p>
          <a:p>
            <a:pPr marL="457200" indent="-457200" algn="l">
              <a:buAutoNum type="arabicPeriod" startAt="6"/>
            </a:pPr>
            <a:r>
              <a:rPr lang="en-US" dirty="0"/>
              <a:t>Findings from Reference Papers</a:t>
            </a:r>
          </a:p>
          <a:p>
            <a:pPr marL="457200" indent="-457200" algn="l">
              <a:buAutoNum type="arabicPeriod" startAt="6"/>
            </a:pPr>
            <a:r>
              <a:rPr lang="en-US" dirty="0"/>
              <a:t>Applications of the Project</a:t>
            </a:r>
          </a:p>
          <a:p>
            <a:pPr marL="457200" indent="-457200" algn="l">
              <a:buAutoNum type="arabicPeriod" startAt="6"/>
            </a:pPr>
            <a:r>
              <a:rPr lang="en-US" dirty="0"/>
              <a:t>Novelty and Innovation</a:t>
            </a:r>
          </a:p>
          <a:p>
            <a:pPr marL="457200" indent="-457200" algn="l">
              <a:buAutoNum type="arabicPeriod" startAt="6"/>
            </a:pPr>
            <a:r>
              <a:rPr lang="en-US" dirty="0"/>
              <a:t>Implementation Details &amp; Roadmap</a:t>
            </a:r>
          </a:p>
          <a:p>
            <a:pPr marL="457200" indent="-457200" algn="l">
              <a:buAutoNum type="arabicPeriod" startAt="6"/>
            </a:pPr>
            <a:r>
              <a:rPr lang="en-US" dirty="0"/>
              <a:t>References</a:t>
            </a:r>
            <a:endParaRPr lang="en-IN" dirty="0">
              <a:latin typeface="Times New Roman" panose="02020603050405020304" pitchFamily="18" charset="0"/>
              <a:cs typeface="Times New Roman" panose="02020603050405020304" pitchFamily="18" charset="0"/>
            </a:endParaRPr>
          </a:p>
        </p:txBody>
      </p:sp>
      <p:pic>
        <p:nvPicPr>
          <p:cNvPr id="5" name="image5.jpeg">
            <a:extLst>
              <a:ext uri="{FF2B5EF4-FFF2-40B4-BE49-F238E27FC236}">
                <a16:creationId xmlns:a16="http://schemas.microsoft.com/office/drawing/2014/main" id="{EDEE217B-261B-8BE5-92DE-E6046F3A83A3}"/>
              </a:ext>
            </a:extLst>
          </p:cNvPr>
          <p:cNvPicPr>
            <a:picLocks noChangeAspect="1"/>
          </p:cNvPicPr>
          <p:nvPr/>
        </p:nvPicPr>
        <p:blipFill>
          <a:blip r:embed="rId2" cstate="print"/>
          <a:stretch>
            <a:fillRect/>
          </a:stretch>
        </p:blipFill>
        <p:spPr>
          <a:xfrm>
            <a:off x="2950809" y="59183"/>
            <a:ext cx="6429465" cy="897296"/>
          </a:xfrm>
          <a:prstGeom prst="rect">
            <a:avLst/>
          </a:prstGeom>
        </p:spPr>
      </p:pic>
    </p:spTree>
    <p:extLst>
      <p:ext uri="{BB962C8B-B14F-4D97-AF65-F5344CB8AC3E}">
        <p14:creationId xmlns:p14="http://schemas.microsoft.com/office/powerpoint/2010/main" val="276373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Abstract</a:t>
            </a:r>
          </a:p>
        </p:txBody>
      </p:sp>
      <p:sp>
        <p:nvSpPr>
          <p:cNvPr id="3" name="Content Placeholder 2"/>
          <p:cNvSpPr>
            <a:spLocks noGrp="1"/>
          </p:cNvSpPr>
          <p:nvPr>
            <p:ph idx="1"/>
          </p:nvPr>
        </p:nvSpPr>
        <p:spPr/>
        <p:txBody>
          <a:bodyPr>
            <a:normAutofit/>
          </a:bodyPr>
          <a:lstStyle/>
          <a:p>
            <a:pPr algn="just"/>
            <a:r>
              <a:rPr lang="en-US" sz="2400" dirty="0"/>
              <a:t>This project presents a Smart Healthcare System that integrates Artificial Intelligence (AI) and Blockchain technologies to enhance healthcare services. The system employs a machine learning model for accurate heart disease prediction using patient health data, enabling early diagnosis and preventive care. To ensure data integrity and security, a blockchain-based architecture is implemented for storing medical records, making them tamper-proof and verifiable. Additionally, the system supports remote healthcare through a simple telemedicine interface, allowing patients to consult doctors and access their reports securely. By combining intelligence, transparency, and accessibility, the proposed system addresses critical challenges such as delayed diagnosis, insecure medical data handling, and limited access to healthcare in remote areas.</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pPr algn="just"/>
            <a:r>
              <a:rPr lang="en-US" sz="2400" dirty="0"/>
              <a:t>Healthcare systems today face challenges such as delayed diagnosis, record manipulation, and limited access to medical services, particularly in rural areas. This project presents a Smart Healthcare System integrating Artificial Intelligence (AI) for heart disease prediction and Blockchain technology for secure, tamper-proof medical records. The system aims to improve diagnosis accuracy, data security, and remote healthcare accessibility through telemedicine. By combining intelligence, transparency, and accessibility, the proposed system addresses key healthcare issues and demonstrates how emerging technologies can enhance patient care and trust in digital health solutions.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882" y="373076"/>
            <a:ext cx="10515600" cy="1325563"/>
          </a:xfrm>
        </p:spPr>
        <p:txBody>
          <a:bodyPr/>
          <a:lstStyle/>
          <a:p>
            <a:r>
              <a:t>Objectives</a:t>
            </a:r>
          </a:p>
        </p:txBody>
      </p:sp>
      <p:sp>
        <p:nvSpPr>
          <p:cNvPr id="3" name="Content Placeholder 2"/>
          <p:cNvSpPr>
            <a:spLocks noGrp="1"/>
          </p:cNvSpPr>
          <p:nvPr>
            <p:ph idx="1"/>
          </p:nvPr>
        </p:nvSpPr>
        <p:spPr/>
        <p:txBody>
          <a:bodyPr>
            <a:normAutofit/>
          </a:bodyPr>
          <a:lstStyle/>
          <a:p>
            <a:r>
              <a:rPr sz="2400" dirty="0"/>
              <a:t> </a:t>
            </a:r>
            <a:r>
              <a:rPr lang="en-US" sz="2400" b="1" dirty="0"/>
              <a:t>To predict heart disease</a:t>
            </a:r>
            <a:r>
              <a:rPr lang="en-US" sz="2400" dirty="0"/>
              <a:t> using machine learning algorithms for early detection and prevention.</a:t>
            </a:r>
            <a:r>
              <a:rPr sz="2400" dirty="0"/>
              <a:t>.</a:t>
            </a:r>
          </a:p>
          <a:p>
            <a:r>
              <a:rPr sz="2400" dirty="0"/>
              <a:t> </a:t>
            </a:r>
            <a:r>
              <a:rPr lang="en-US" sz="2400" b="1" dirty="0"/>
              <a:t>To ensure secure medical data storage</a:t>
            </a:r>
            <a:r>
              <a:rPr lang="en-US" sz="2400" dirty="0"/>
              <a:t> and integrity through the implementation of blockchain technology.</a:t>
            </a:r>
            <a:r>
              <a:rPr sz="2400" dirty="0"/>
              <a:t>.</a:t>
            </a:r>
          </a:p>
          <a:p>
            <a:r>
              <a:rPr lang="en-US" sz="2400" b="1" dirty="0"/>
              <a:t>To enable remote doctor–patient consultations</a:t>
            </a:r>
            <a:r>
              <a:rPr lang="en-US" sz="2400" dirty="0"/>
              <a:t> using a telemedicine platform for improved accessibility.</a:t>
            </a:r>
            <a:r>
              <a:rPr sz="2400" dirty="0"/>
              <a:t>.</a:t>
            </a:r>
          </a:p>
          <a:p>
            <a:r>
              <a:rPr sz="2400" dirty="0"/>
              <a:t> </a:t>
            </a:r>
            <a:r>
              <a:rPr lang="en-US" sz="2400" b="1" dirty="0"/>
              <a:t>To enhance trust, accessibility, and efficiency</a:t>
            </a:r>
            <a:r>
              <a:rPr lang="en-US" sz="2400" dirty="0"/>
              <a:t> within the healthcare system by integrating AI and blockchain technologies.</a:t>
            </a:r>
            <a:r>
              <a:rPr sz="24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Existing System</a:t>
            </a:r>
          </a:p>
        </p:txBody>
      </p:sp>
      <p:sp>
        <p:nvSpPr>
          <p:cNvPr id="3" name="Content Placeholder 2"/>
          <p:cNvSpPr>
            <a:spLocks noGrp="1"/>
          </p:cNvSpPr>
          <p:nvPr>
            <p:ph idx="1"/>
          </p:nvPr>
        </p:nvSpPr>
        <p:spPr/>
        <p:txBody>
          <a:bodyPr>
            <a:normAutofit/>
          </a:bodyPr>
          <a:lstStyle/>
          <a:p>
            <a:pPr algn="just"/>
            <a:r>
              <a:rPr lang="en-US" sz="2400" dirty="0"/>
              <a:t>Existing healthcare systems often rely on centralized data storage, which increases the risk of data tampering, unauthorized access, and data loss. Many existing predictive models focus only on disease detection but lack secure and transparent data handling mechanisms. Similarly, traditional telemedicine platforms provide remote consultation but do not guarantee patient data confidentiality or integrity. As a result, patients face challenges in maintaining trust, data security, and accessibility in healthcare services.</a:t>
            </a:r>
            <a:endParaRPr sz="2400" dirty="0"/>
          </a:p>
          <a:p>
            <a:pPr algn="just"/>
            <a:r>
              <a:rPr lang="en-US" sz="2400" b="1" dirty="0"/>
              <a:t>Technologies Used:</a:t>
            </a:r>
            <a:r>
              <a:rPr lang="en-US" sz="2400" dirty="0"/>
              <a:t> Conventional relational databases, and MediSoft standard web-based interfaces for storing patient details.</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Proposed System</a:t>
            </a:r>
          </a:p>
        </p:txBody>
      </p:sp>
      <p:sp>
        <p:nvSpPr>
          <p:cNvPr id="3" name="Content Placeholder 2"/>
          <p:cNvSpPr>
            <a:spLocks noGrp="1"/>
          </p:cNvSpPr>
          <p:nvPr>
            <p:ph idx="1"/>
          </p:nvPr>
        </p:nvSpPr>
        <p:spPr/>
        <p:txBody>
          <a:bodyPr>
            <a:normAutofit/>
          </a:bodyPr>
          <a:lstStyle/>
          <a:p>
            <a:pPr algn="just"/>
            <a:r>
              <a:rPr lang="en-US" sz="2000" dirty="0"/>
              <a:t>The proposed system integrates Artificial Intelligence (AI) for heart disease prediction with Blockchain technology for secure medical record management. The AI model analyzes patient health data to predict the likelihood of heart disease, enabling early detection and preventive care. Once a diagnosis is generated, the results are securely stored on the blockchain, ensuring data integrity, transparency, and tamper-proof access.</a:t>
            </a:r>
          </a:p>
          <a:p>
            <a:pPr algn="just"/>
            <a:r>
              <a:rPr lang="en-US" sz="2000" dirty="0"/>
              <a:t>Patients can view their reports verified through blockchain, while doctors can access these records to provide accurate consultations. The system also includes a telemedicine interface that enables real-time communication between doctors and patients through chat or video calls, improving accessibility and convenience.</a:t>
            </a:r>
            <a:endParaRPr sz="2000" dirty="0"/>
          </a:p>
          <a:p>
            <a:pPr algn="just"/>
            <a:endParaRPr sz="2000" dirty="0"/>
          </a:p>
          <a:p>
            <a:pPr algn="just"/>
            <a:r>
              <a:rPr lang="en-US" sz="2000" b="1" dirty="0"/>
              <a:t>System Flow:</a:t>
            </a:r>
          </a:p>
          <a:p>
            <a:pPr marL="0" indent="0">
              <a:buNone/>
            </a:pPr>
            <a:r>
              <a:rPr lang="en-US" sz="1800" dirty="0"/>
              <a:t>    Input Data → AI Model → Prediction → Blockchain Record → Telemedicine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dirty="0"/>
              <a:t>Comparative Table</a:t>
            </a:r>
          </a:p>
        </p:txBody>
      </p:sp>
      <p:sp>
        <p:nvSpPr>
          <p:cNvPr id="3" name="Content Placeholder 2"/>
          <p:cNvSpPr>
            <a:spLocks noGrp="1"/>
          </p:cNvSpPr>
          <p:nvPr>
            <p:ph idx="1"/>
          </p:nvPr>
        </p:nvSpPr>
        <p:spPr/>
        <p:txBody>
          <a:bodyPr>
            <a:normAutofit/>
          </a:bodyPr>
          <a:lstStyle/>
          <a:p>
            <a:pPr marL="0" indent="0">
              <a:buNone/>
            </a:pPr>
            <a:endParaRPr sz="2000" dirty="0"/>
          </a:p>
        </p:txBody>
      </p:sp>
      <p:graphicFrame>
        <p:nvGraphicFramePr>
          <p:cNvPr id="4" name="Table 3">
            <a:extLst>
              <a:ext uri="{FF2B5EF4-FFF2-40B4-BE49-F238E27FC236}">
                <a16:creationId xmlns:a16="http://schemas.microsoft.com/office/drawing/2014/main" id="{862BFA16-A14F-374A-3D20-2509BE9B722B}"/>
              </a:ext>
            </a:extLst>
          </p:cNvPr>
          <p:cNvGraphicFramePr>
            <a:graphicFrameLocks noGrp="1"/>
          </p:cNvGraphicFramePr>
          <p:nvPr>
            <p:extLst>
              <p:ext uri="{D42A27DB-BD31-4B8C-83A1-F6EECF244321}">
                <p14:modId xmlns:p14="http://schemas.microsoft.com/office/powerpoint/2010/main" val="4172772946"/>
              </p:ext>
            </p:extLst>
          </p:nvPr>
        </p:nvGraphicFramePr>
        <p:xfrm>
          <a:off x="1296063" y="2297927"/>
          <a:ext cx="8992923" cy="3745066"/>
        </p:xfrm>
        <a:graphic>
          <a:graphicData uri="http://schemas.openxmlformats.org/drawingml/2006/table">
            <a:tbl>
              <a:tblPr firstRow="1" bandRow="1">
                <a:tableStyleId>{5C22544A-7EE6-4342-B048-85BDC9FD1C3A}</a:tableStyleId>
              </a:tblPr>
              <a:tblGrid>
                <a:gridCol w="2997641">
                  <a:extLst>
                    <a:ext uri="{9D8B030D-6E8A-4147-A177-3AD203B41FA5}">
                      <a16:colId xmlns:a16="http://schemas.microsoft.com/office/drawing/2014/main" val="1533440561"/>
                    </a:ext>
                  </a:extLst>
                </a:gridCol>
                <a:gridCol w="2997641">
                  <a:extLst>
                    <a:ext uri="{9D8B030D-6E8A-4147-A177-3AD203B41FA5}">
                      <a16:colId xmlns:a16="http://schemas.microsoft.com/office/drawing/2014/main" val="3448264325"/>
                    </a:ext>
                  </a:extLst>
                </a:gridCol>
                <a:gridCol w="2997641">
                  <a:extLst>
                    <a:ext uri="{9D8B030D-6E8A-4147-A177-3AD203B41FA5}">
                      <a16:colId xmlns:a16="http://schemas.microsoft.com/office/drawing/2014/main" val="92792778"/>
                    </a:ext>
                  </a:extLst>
                </a:gridCol>
              </a:tblGrid>
              <a:tr h="717709">
                <a:tc>
                  <a:txBody>
                    <a:bodyPr/>
                    <a:lstStyle/>
                    <a:p>
                      <a:r>
                        <a:rPr lang="en-US" sz="1800" dirty="0"/>
                        <a:t>Feature</a:t>
                      </a:r>
                      <a:endParaRPr lang="en-US" dirty="0"/>
                    </a:p>
                  </a:txBody>
                  <a:tcPr/>
                </a:tc>
                <a:tc>
                  <a:txBody>
                    <a:bodyPr/>
                    <a:lstStyle/>
                    <a:p>
                      <a:r>
                        <a:rPr lang="en-US" sz="1800" dirty="0"/>
                        <a:t>Existing System</a:t>
                      </a:r>
                      <a:endParaRPr lang="en-US" dirty="0"/>
                    </a:p>
                  </a:txBody>
                  <a:tcPr/>
                </a:tc>
                <a:tc>
                  <a:txBody>
                    <a:bodyPr/>
                    <a:lstStyle/>
                    <a:p>
                      <a:r>
                        <a:rPr lang="en-US" sz="1800" dirty="0"/>
                        <a:t>Proposed System</a:t>
                      </a:r>
                      <a:endParaRPr lang="en-US" dirty="0"/>
                    </a:p>
                  </a:txBody>
                  <a:tcPr/>
                </a:tc>
                <a:extLst>
                  <a:ext uri="{0D108BD9-81ED-4DB2-BD59-A6C34878D82A}">
                    <a16:rowId xmlns:a16="http://schemas.microsoft.com/office/drawing/2014/main" val="1732151087"/>
                  </a:ext>
                </a:extLst>
              </a:tr>
              <a:tr h="717709">
                <a:tc>
                  <a:txBody>
                    <a:bodyPr/>
                    <a:lstStyle/>
                    <a:p>
                      <a:r>
                        <a:rPr lang="en-US" sz="1800" dirty="0"/>
                        <a:t>Data Security</a:t>
                      </a:r>
                      <a:endParaRPr lang="en-US" dirty="0"/>
                    </a:p>
                  </a:txBody>
                  <a:tcPr/>
                </a:tc>
                <a:tc>
                  <a:txBody>
                    <a:bodyPr/>
                    <a:lstStyle/>
                    <a:p>
                      <a:r>
                        <a:rPr lang="en-US" sz="1800" dirty="0"/>
                        <a:t>Low (Centralized) </a:t>
                      </a:r>
                      <a:endParaRPr lang="en-US" dirty="0"/>
                    </a:p>
                  </a:txBody>
                  <a:tcPr/>
                </a:tc>
                <a:tc>
                  <a:txBody>
                    <a:bodyPr/>
                    <a:lstStyle/>
                    <a:p>
                      <a:r>
                        <a:rPr lang="en-US" sz="1800" dirty="0"/>
                        <a:t>High(Decentralized)</a:t>
                      </a:r>
                      <a:endParaRPr lang="en-US" dirty="0"/>
                    </a:p>
                  </a:txBody>
                  <a:tcPr/>
                </a:tc>
                <a:extLst>
                  <a:ext uri="{0D108BD9-81ED-4DB2-BD59-A6C34878D82A}">
                    <a16:rowId xmlns:a16="http://schemas.microsoft.com/office/drawing/2014/main" val="390208752"/>
                  </a:ext>
                </a:extLst>
              </a:tr>
              <a:tr h="577412">
                <a:tc>
                  <a:txBody>
                    <a:bodyPr/>
                    <a:lstStyle/>
                    <a:p>
                      <a:r>
                        <a:rPr lang="en-US" sz="1800" dirty="0"/>
                        <a:t>Accessibility</a:t>
                      </a:r>
                      <a:endParaRPr lang="en-US" dirty="0"/>
                    </a:p>
                  </a:txBody>
                  <a:tcPr/>
                </a:tc>
                <a:tc>
                  <a:txBody>
                    <a:bodyPr/>
                    <a:lstStyle/>
                    <a:p>
                      <a:r>
                        <a:rPr lang="en-US" sz="1800" dirty="0"/>
                        <a:t>Limited</a:t>
                      </a:r>
                      <a:endParaRPr lang="en-US" dirty="0"/>
                    </a:p>
                  </a:txBody>
                  <a:tcPr/>
                </a:tc>
                <a:tc>
                  <a:txBody>
                    <a:bodyPr/>
                    <a:lstStyle/>
                    <a:p>
                      <a:r>
                        <a:rPr lang="en-US" sz="1800" dirty="0"/>
                        <a:t>Telemedicine</a:t>
                      </a:r>
                      <a:endParaRPr lang="en-US" dirty="0"/>
                    </a:p>
                  </a:txBody>
                  <a:tcPr/>
                </a:tc>
                <a:extLst>
                  <a:ext uri="{0D108BD9-81ED-4DB2-BD59-A6C34878D82A}">
                    <a16:rowId xmlns:a16="http://schemas.microsoft.com/office/drawing/2014/main" val="3697367259"/>
                  </a:ext>
                </a:extLst>
              </a:tr>
              <a:tr h="577412">
                <a:tc>
                  <a:txBody>
                    <a:bodyPr/>
                    <a:lstStyle/>
                    <a:p>
                      <a:r>
                        <a:rPr lang="en-US" sz="1800" dirty="0"/>
                        <a:t>Diagnosis</a:t>
                      </a:r>
                      <a:endParaRPr lang="en-US" dirty="0"/>
                    </a:p>
                  </a:txBody>
                  <a:tcPr/>
                </a:tc>
                <a:tc>
                  <a:txBody>
                    <a:bodyPr/>
                    <a:lstStyle/>
                    <a:p>
                      <a:r>
                        <a:rPr lang="en-US" sz="1800" dirty="0"/>
                        <a:t>Manual</a:t>
                      </a:r>
                      <a:endParaRPr lang="en-US" dirty="0"/>
                    </a:p>
                  </a:txBody>
                  <a:tcPr/>
                </a:tc>
                <a:tc>
                  <a:txBody>
                    <a:bodyPr/>
                    <a:lstStyle/>
                    <a:p>
                      <a:r>
                        <a:rPr lang="en-US" sz="1800" dirty="0"/>
                        <a:t>Prediction</a:t>
                      </a:r>
                      <a:endParaRPr lang="en-US" dirty="0"/>
                    </a:p>
                  </a:txBody>
                  <a:tcPr/>
                </a:tc>
                <a:extLst>
                  <a:ext uri="{0D108BD9-81ED-4DB2-BD59-A6C34878D82A}">
                    <a16:rowId xmlns:a16="http://schemas.microsoft.com/office/drawing/2014/main" val="2133743830"/>
                  </a:ext>
                </a:extLst>
              </a:tr>
              <a:tr h="577412">
                <a:tc>
                  <a:txBody>
                    <a:bodyPr/>
                    <a:lstStyle/>
                    <a:p>
                      <a:r>
                        <a:rPr lang="en-US" sz="1800" dirty="0"/>
                        <a:t>Data Integrity</a:t>
                      </a:r>
                      <a:endParaRPr lang="en-US" dirty="0"/>
                    </a:p>
                  </a:txBody>
                  <a:tcPr/>
                </a:tc>
                <a:tc>
                  <a:txBody>
                    <a:bodyPr/>
                    <a:lstStyle/>
                    <a:p>
                      <a:r>
                        <a:rPr lang="en-US" sz="1800" dirty="0"/>
                        <a:t>Vulnerable</a:t>
                      </a:r>
                      <a:endParaRPr lang="en-US" dirty="0"/>
                    </a:p>
                  </a:txBody>
                  <a:tcPr/>
                </a:tc>
                <a:tc>
                  <a:txBody>
                    <a:bodyPr/>
                    <a:lstStyle/>
                    <a:p>
                      <a:r>
                        <a:rPr lang="en-US" sz="1800" dirty="0"/>
                        <a:t>Tamper-Proof</a:t>
                      </a:r>
                      <a:endParaRPr lang="en-US" dirty="0"/>
                    </a:p>
                  </a:txBody>
                  <a:tcPr/>
                </a:tc>
                <a:extLst>
                  <a:ext uri="{0D108BD9-81ED-4DB2-BD59-A6C34878D82A}">
                    <a16:rowId xmlns:a16="http://schemas.microsoft.com/office/drawing/2014/main" val="1982508463"/>
                  </a:ext>
                </a:extLst>
              </a:tr>
              <a:tr h="577412">
                <a:tc>
                  <a:txBody>
                    <a:bodyPr/>
                    <a:lstStyle/>
                    <a:p>
                      <a:r>
                        <a:rPr lang="en-US" sz="1800" dirty="0"/>
                        <a:t>Transparency</a:t>
                      </a:r>
                      <a:endParaRPr lang="en-US" dirty="0"/>
                    </a:p>
                  </a:txBody>
                  <a:tcPr/>
                </a:tc>
                <a:tc>
                  <a:txBody>
                    <a:bodyPr/>
                    <a:lstStyle/>
                    <a:p>
                      <a:r>
                        <a:rPr lang="en-US" sz="1800" dirty="0"/>
                        <a:t>Low</a:t>
                      </a:r>
                      <a:endParaRPr lang="en-US" dirty="0"/>
                    </a:p>
                  </a:txBody>
                  <a:tcPr/>
                </a:tc>
                <a:tc>
                  <a:txBody>
                    <a:bodyPr/>
                    <a:lstStyle/>
                    <a:p>
                      <a:r>
                        <a:rPr lang="en-US" sz="1800" dirty="0"/>
                        <a:t>High</a:t>
                      </a:r>
                      <a:endParaRPr lang="en-US" dirty="0"/>
                    </a:p>
                  </a:txBody>
                  <a:tcPr/>
                </a:tc>
                <a:extLst>
                  <a:ext uri="{0D108BD9-81ED-4DB2-BD59-A6C34878D82A}">
                    <a16:rowId xmlns:a16="http://schemas.microsoft.com/office/drawing/2014/main" val="382457221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of the Proposed System</a:t>
            </a:r>
          </a:p>
        </p:txBody>
      </p:sp>
      <p:sp>
        <p:nvSpPr>
          <p:cNvPr id="3" name="Content Placeholder 2"/>
          <p:cNvSpPr>
            <a:spLocks noGrp="1"/>
          </p:cNvSpPr>
          <p:nvPr>
            <p:ph idx="1"/>
          </p:nvPr>
        </p:nvSpPr>
        <p:spPr/>
        <p:txBody>
          <a:bodyPr>
            <a:normAutofit fontScale="92500" lnSpcReduction="20000"/>
          </a:bodyPr>
          <a:lstStyle/>
          <a:p>
            <a:r>
              <a:rPr dirty="0"/>
              <a:t>1. AI Prediction (risk level, score)</a:t>
            </a:r>
          </a:p>
          <a:p>
            <a:r>
              <a:rPr dirty="0"/>
              <a:t>2. BMI &amp; Symptom Checker</a:t>
            </a:r>
          </a:p>
          <a:p>
            <a:r>
              <a:rPr dirty="0"/>
              <a:t>3. Blockchain-secured medical records</a:t>
            </a:r>
          </a:p>
          <a:p>
            <a:r>
              <a:rPr dirty="0"/>
              <a:t>4. QR verification &amp; transaction history</a:t>
            </a:r>
          </a:p>
          <a:p>
            <a:r>
              <a:rPr dirty="0"/>
              <a:t>5. Telemedicine: login, booking, chat</a:t>
            </a:r>
          </a:p>
          <a:p>
            <a:r>
              <a:rPr dirty="0"/>
              <a:t>6. Dashboard: graphs, tips, PDF reports</a:t>
            </a:r>
            <a:endParaRPr lang="en-US" dirty="0"/>
          </a:p>
          <a:p>
            <a:r>
              <a:rPr lang="en-US" dirty="0"/>
              <a:t>7.Digital Twin</a:t>
            </a:r>
          </a:p>
          <a:p>
            <a:r>
              <a:rPr lang="en-US" dirty="0"/>
              <a:t>8.Cross Hospital Data Access</a:t>
            </a:r>
          </a:p>
          <a:p>
            <a:r>
              <a:rPr lang="en-US" dirty="0"/>
              <a:t>9.Real Time Notification Alert</a:t>
            </a:r>
          </a:p>
          <a:p>
            <a:r>
              <a:rPr lang="en-US" dirty="0"/>
              <a:t>10.Consent Management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BBB7-E51D-E10B-8DC5-0F52D38CA9F9}"/>
              </a:ext>
            </a:extLst>
          </p:cNvPr>
          <p:cNvSpPr>
            <a:spLocks noGrp="1"/>
          </p:cNvSpPr>
          <p:nvPr>
            <p:ph type="title"/>
          </p:nvPr>
        </p:nvSpPr>
        <p:spPr/>
        <p:txBody>
          <a:bodyPr/>
          <a:lstStyle/>
          <a:p>
            <a:r>
              <a:rPr lang="en-US" dirty="0"/>
              <a:t>System Architecture</a:t>
            </a:r>
          </a:p>
        </p:txBody>
      </p:sp>
      <p:sp>
        <p:nvSpPr>
          <p:cNvPr id="3" name="Content Placeholder 2">
            <a:extLst>
              <a:ext uri="{FF2B5EF4-FFF2-40B4-BE49-F238E27FC236}">
                <a16:creationId xmlns:a16="http://schemas.microsoft.com/office/drawing/2014/main" id="{4F67CA6C-F0AA-FD3E-635D-E63368649BE5}"/>
              </a:ext>
            </a:extLst>
          </p:cNvPr>
          <p:cNvSpPr>
            <a:spLocks noGrp="1"/>
          </p:cNvSpPr>
          <p:nvPr>
            <p:ph idx="1"/>
          </p:nvPr>
        </p:nvSpPr>
        <p:spPr>
          <a:xfrm>
            <a:off x="838200" y="1486894"/>
            <a:ext cx="10515600" cy="4690069"/>
          </a:xfrm>
        </p:spPr>
        <p:txBody>
          <a:bodyPr>
            <a:normAutofit fontScale="55000" lnSpcReduction="20000"/>
          </a:bodyPr>
          <a:lstStyle/>
          <a:p>
            <a:r>
              <a:rPr lang="en-US" b="1" dirty="0"/>
              <a:t> User Interface (React Web Application)</a:t>
            </a:r>
            <a:br>
              <a:rPr lang="en-US" b="1" dirty="0"/>
            </a:br>
            <a:r>
              <a:rPr lang="en-US" dirty="0"/>
              <a:t>– Patient enters health parameters</a:t>
            </a:r>
            <a:br>
              <a:rPr lang="en-US" dirty="0"/>
            </a:br>
            <a:r>
              <a:rPr lang="en-US" dirty="0"/>
              <a:t>– Doctor views reports and verification</a:t>
            </a:r>
            <a:br>
              <a:rPr lang="en-US" dirty="0"/>
            </a:br>
            <a:r>
              <a:rPr lang="en-US" dirty="0"/>
              <a:t>– Admin manages system</a:t>
            </a:r>
          </a:p>
          <a:p>
            <a:r>
              <a:rPr lang="en-US" b="1" dirty="0"/>
              <a:t> AI Prediction Layer</a:t>
            </a:r>
            <a:br>
              <a:rPr lang="en-US" dirty="0"/>
            </a:br>
            <a:r>
              <a:rPr lang="en-US" dirty="0"/>
              <a:t>– Logistic Regression model</a:t>
            </a:r>
            <a:br>
              <a:rPr lang="en-US" dirty="0"/>
            </a:br>
            <a:r>
              <a:rPr lang="en-US" dirty="0"/>
              <a:t>– Calculates disease risk probability</a:t>
            </a:r>
          </a:p>
          <a:p>
            <a:r>
              <a:rPr lang="en-US" dirty="0"/>
              <a:t> </a:t>
            </a:r>
            <a:r>
              <a:rPr lang="en-US" b="1" dirty="0"/>
              <a:t>Backend Services </a:t>
            </a:r>
            <a:br>
              <a:rPr lang="en-US" dirty="0"/>
            </a:br>
            <a:r>
              <a:rPr lang="en-US" dirty="0"/>
              <a:t>– Authentication and user management</a:t>
            </a:r>
            <a:br>
              <a:rPr lang="en-US" dirty="0"/>
            </a:br>
            <a:r>
              <a:rPr lang="en-US" dirty="0"/>
              <a:t>– Stores predictions and reports</a:t>
            </a:r>
            <a:br>
              <a:rPr lang="en-US" dirty="0"/>
            </a:br>
            <a:r>
              <a:rPr lang="en-US" dirty="0"/>
              <a:t>– Notification service</a:t>
            </a:r>
          </a:p>
          <a:p>
            <a:r>
              <a:rPr lang="en-US" dirty="0"/>
              <a:t> </a:t>
            </a:r>
            <a:r>
              <a:rPr lang="en-US" b="1" dirty="0"/>
              <a:t>Blockchain Verification Layer</a:t>
            </a:r>
            <a:br>
              <a:rPr lang="en-US" dirty="0"/>
            </a:br>
            <a:r>
              <a:rPr lang="en-US" dirty="0"/>
              <a:t>– Generates SHA-256 hash of report</a:t>
            </a:r>
            <a:br>
              <a:rPr lang="en-US" dirty="0"/>
            </a:br>
            <a:r>
              <a:rPr lang="en-US" dirty="0"/>
              <a:t>– Stores hash in ledger table</a:t>
            </a:r>
            <a:br>
              <a:rPr lang="en-US" dirty="0"/>
            </a:br>
            <a:r>
              <a:rPr lang="en-US" dirty="0"/>
              <a:t>– QR-based verification</a:t>
            </a:r>
          </a:p>
          <a:p>
            <a:r>
              <a:rPr lang="en-US" dirty="0"/>
              <a:t> </a:t>
            </a:r>
            <a:r>
              <a:rPr lang="en-US" b="1" dirty="0"/>
              <a:t>Database</a:t>
            </a:r>
            <a:br>
              <a:rPr lang="en-US" dirty="0"/>
            </a:br>
            <a:r>
              <a:rPr lang="en-US" dirty="0"/>
              <a:t>– Patient data</a:t>
            </a:r>
            <a:br>
              <a:rPr lang="en-US" dirty="0"/>
            </a:br>
            <a:r>
              <a:rPr lang="en-US" dirty="0"/>
              <a:t>– Prediction history</a:t>
            </a:r>
            <a:br>
              <a:rPr lang="en-US" dirty="0"/>
            </a:br>
            <a:r>
              <a:rPr lang="en-US" dirty="0"/>
              <a:t>– Ledger transactions</a:t>
            </a:r>
          </a:p>
          <a:p>
            <a:r>
              <a:rPr lang="en-US" b="1" dirty="0"/>
              <a:t>Flow:</a:t>
            </a:r>
            <a:br>
              <a:rPr lang="en-US" dirty="0"/>
            </a:br>
            <a:r>
              <a:rPr lang="en-US" dirty="0"/>
              <a:t>User Input → AI Model → Prediction → Hash Generation → Ledger Storage → Verification</a:t>
            </a:r>
          </a:p>
          <a:p>
            <a:endParaRPr lang="en-US" dirty="0"/>
          </a:p>
        </p:txBody>
      </p:sp>
      <p:sp>
        <p:nvSpPr>
          <p:cNvPr id="4" name="Footer Placeholder 3">
            <a:extLst>
              <a:ext uri="{FF2B5EF4-FFF2-40B4-BE49-F238E27FC236}">
                <a16:creationId xmlns:a16="http://schemas.microsoft.com/office/drawing/2014/main" id="{8DAC9C06-6B30-E994-41C3-152283940503}"/>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209816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0465-8E56-AC2F-B1BE-48F8BF95012A}"/>
              </a:ext>
            </a:extLst>
          </p:cNvPr>
          <p:cNvSpPr>
            <a:spLocks noGrp="1"/>
          </p:cNvSpPr>
          <p:nvPr>
            <p:ph type="title"/>
          </p:nvPr>
        </p:nvSpPr>
        <p:spPr/>
        <p:txBody>
          <a:bodyPr/>
          <a:lstStyle/>
          <a:p>
            <a:r>
              <a:rPr lang="en-US" dirty="0"/>
              <a:t>Dataset Description</a:t>
            </a:r>
          </a:p>
        </p:txBody>
      </p:sp>
      <p:sp>
        <p:nvSpPr>
          <p:cNvPr id="3" name="Content Placeholder 2">
            <a:extLst>
              <a:ext uri="{FF2B5EF4-FFF2-40B4-BE49-F238E27FC236}">
                <a16:creationId xmlns:a16="http://schemas.microsoft.com/office/drawing/2014/main" id="{09BC8689-BF9B-EFB2-77AC-B17FA3BB65B5}"/>
              </a:ext>
            </a:extLst>
          </p:cNvPr>
          <p:cNvSpPr>
            <a:spLocks noGrp="1"/>
          </p:cNvSpPr>
          <p:nvPr>
            <p:ph idx="1"/>
          </p:nvPr>
        </p:nvSpPr>
        <p:spPr/>
        <p:txBody>
          <a:bodyPr/>
          <a:lstStyle/>
          <a:p>
            <a:r>
              <a:rPr lang="en-US" dirty="0"/>
              <a:t>Dataset Used – </a:t>
            </a:r>
            <a:r>
              <a:rPr lang="en-US" sz="2000" dirty="0"/>
              <a:t>Heart Disease Dataset</a:t>
            </a:r>
          </a:p>
          <a:p>
            <a:r>
              <a:rPr lang="en-US" dirty="0"/>
              <a:t>Dataset Name: </a:t>
            </a:r>
            <a:r>
              <a:rPr lang="en-US" sz="2000" dirty="0"/>
              <a:t>UCI Cleveland Heart Disease Dataset</a:t>
            </a:r>
          </a:p>
          <a:p>
            <a:r>
              <a:rPr lang="en-US" dirty="0"/>
              <a:t>Source: </a:t>
            </a:r>
            <a:r>
              <a:rPr lang="en-US" sz="2000" dirty="0"/>
              <a:t>UCI Machine Learning Repository (Kaggle)</a:t>
            </a:r>
          </a:p>
          <a:p>
            <a:pPr marL="0" indent="0">
              <a:buNone/>
            </a:pPr>
            <a:r>
              <a:rPr lang="en-US" sz="2000" dirty="0"/>
              <a:t>                        </a:t>
            </a:r>
            <a:r>
              <a:rPr lang="en-US" sz="2000" dirty="0">
                <a:hlinkClick r:id="rId2"/>
              </a:rPr>
              <a:t>https://www.kaggle.com/datasets/ronitf/heart-disease-uci</a:t>
            </a:r>
            <a:endParaRPr lang="en-US" sz="2000" dirty="0"/>
          </a:p>
          <a:p>
            <a:pPr marL="0" indent="0">
              <a:buNone/>
            </a:pPr>
            <a:r>
              <a:rPr lang="en-US" sz="2000" dirty="0"/>
              <a:t>Number of Records: ~303 patient samples</a:t>
            </a:r>
          </a:p>
          <a:p>
            <a:pPr marL="0" indent="0">
              <a:buNone/>
            </a:pPr>
            <a:r>
              <a:rPr lang="en-US" sz="2000" dirty="0"/>
              <a:t>Number of Features: 13 medical attributes</a:t>
            </a:r>
          </a:p>
          <a:p>
            <a:pPr marL="0" indent="0">
              <a:buNone/>
            </a:pPr>
            <a:endParaRPr lang="en-US" sz="2000" dirty="0"/>
          </a:p>
          <a:p>
            <a:endParaRPr lang="en-US" dirty="0"/>
          </a:p>
        </p:txBody>
      </p:sp>
      <p:sp>
        <p:nvSpPr>
          <p:cNvPr id="4" name="Footer Placeholder 3">
            <a:extLst>
              <a:ext uri="{FF2B5EF4-FFF2-40B4-BE49-F238E27FC236}">
                <a16:creationId xmlns:a16="http://schemas.microsoft.com/office/drawing/2014/main" id="{0935457C-3DAB-1E52-4182-72207D807BAC}"/>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591241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7546E-73F2-237E-3168-001480EA24A7}"/>
              </a:ext>
            </a:extLst>
          </p:cNvPr>
          <p:cNvSpPr>
            <a:spLocks noGrp="1"/>
          </p:cNvSpPr>
          <p:nvPr>
            <p:ph type="title"/>
          </p:nvPr>
        </p:nvSpPr>
        <p:spPr/>
        <p:txBody>
          <a:bodyPr/>
          <a:lstStyle/>
          <a:p>
            <a:r>
              <a:rPr lang="en-US" dirty="0"/>
              <a:t> Sample Attributes:</a:t>
            </a:r>
          </a:p>
        </p:txBody>
      </p:sp>
      <p:sp>
        <p:nvSpPr>
          <p:cNvPr id="3" name="Content Placeholder 2">
            <a:extLst>
              <a:ext uri="{FF2B5EF4-FFF2-40B4-BE49-F238E27FC236}">
                <a16:creationId xmlns:a16="http://schemas.microsoft.com/office/drawing/2014/main" id="{5B8FC77C-D568-D574-E41E-BB2732904BCE}"/>
              </a:ext>
            </a:extLst>
          </p:cNvPr>
          <p:cNvSpPr>
            <a:spLocks noGrp="1"/>
          </p:cNvSpPr>
          <p:nvPr>
            <p:ph idx="1"/>
          </p:nvPr>
        </p:nvSpPr>
        <p:spPr>
          <a:xfrm>
            <a:off x="838200" y="1280160"/>
            <a:ext cx="10515600" cy="4896803"/>
          </a:xfrm>
        </p:spPr>
        <p:txBody>
          <a:bodyPr>
            <a:normAutofit fontScale="25000" lnSpcReduction="20000"/>
          </a:bodyPr>
          <a:lstStyle/>
          <a:p>
            <a:r>
              <a:rPr lang="en-US" sz="4800" dirty="0"/>
              <a:t>Age</a:t>
            </a:r>
          </a:p>
          <a:p>
            <a:r>
              <a:rPr lang="en-US" sz="4800" dirty="0"/>
              <a:t>Sex</a:t>
            </a:r>
          </a:p>
          <a:p>
            <a:r>
              <a:rPr lang="en-US" sz="4800" dirty="0"/>
              <a:t>Chest Pain Type</a:t>
            </a:r>
          </a:p>
          <a:p>
            <a:r>
              <a:rPr lang="en-US" sz="4800" dirty="0"/>
              <a:t>Resting Blood Pressure</a:t>
            </a:r>
          </a:p>
          <a:p>
            <a:r>
              <a:rPr lang="en-US" sz="4800" dirty="0"/>
              <a:t>Cholesterol</a:t>
            </a:r>
          </a:p>
          <a:p>
            <a:r>
              <a:rPr lang="en-US" sz="4800" dirty="0"/>
              <a:t>Fasting Blood Sugar</a:t>
            </a:r>
          </a:p>
          <a:p>
            <a:r>
              <a:rPr lang="en-US" sz="4800" dirty="0"/>
              <a:t>ECG Results</a:t>
            </a:r>
          </a:p>
          <a:p>
            <a:r>
              <a:rPr lang="en-US" sz="4800" dirty="0"/>
              <a:t>Maximum Heart Rate</a:t>
            </a:r>
          </a:p>
          <a:p>
            <a:r>
              <a:rPr lang="en-US" sz="4800" dirty="0"/>
              <a:t>Exercise Induced Angina</a:t>
            </a:r>
          </a:p>
          <a:p>
            <a:r>
              <a:rPr lang="en-US" sz="4800" dirty="0"/>
              <a:t>BMI</a:t>
            </a:r>
          </a:p>
          <a:p>
            <a:endParaRPr lang="en-US" sz="4300" dirty="0"/>
          </a:p>
          <a:p>
            <a:r>
              <a:rPr lang="en-US" sz="6200" b="1" dirty="0"/>
              <a:t> Target Column:</a:t>
            </a:r>
          </a:p>
          <a:p>
            <a:r>
              <a:rPr lang="en-US" sz="4800" dirty="0"/>
              <a:t>0 → No Heart Disease</a:t>
            </a:r>
          </a:p>
          <a:p>
            <a:r>
              <a:rPr lang="en-US" sz="4800" dirty="0"/>
              <a:t>1 → Heart Disease</a:t>
            </a:r>
          </a:p>
          <a:p>
            <a:endParaRPr lang="en-US" dirty="0"/>
          </a:p>
          <a:p>
            <a:r>
              <a:rPr lang="en-US" sz="6200" b="1" dirty="0"/>
              <a:t> Data Preprocessing:</a:t>
            </a:r>
          </a:p>
          <a:p>
            <a:r>
              <a:rPr lang="en-US" sz="4800" dirty="0"/>
              <a:t>Removal of missing values</a:t>
            </a:r>
          </a:p>
          <a:p>
            <a:r>
              <a:rPr lang="en-US" sz="4800" dirty="0"/>
              <a:t>Normalization</a:t>
            </a:r>
          </a:p>
          <a:p>
            <a:r>
              <a:rPr lang="en-US" sz="4800" dirty="0"/>
              <a:t>Encoding categorical features</a:t>
            </a:r>
          </a:p>
          <a:p>
            <a:r>
              <a:rPr lang="en-US" sz="4800" dirty="0"/>
              <a:t>Feature selection</a:t>
            </a:r>
          </a:p>
          <a:p>
            <a:endParaRPr lang="en-US" dirty="0"/>
          </a:p>
        </p:txBody>
      </p:sp>
      <p:sp>
        <p:nvSpPr>
          <p:cNvPr id="4" name="Footer Placeholder 3">
            <a:extLst>
              <a:ext uri="{FF2B5EF4-FFF2-40B4-BE49-F238E27FC236}">
                <a16:creationId xmlns:a16="http://schemas.microsoft.com/office/drawing/2014/main" id="{14B9BA01-AFBD-AED3-5A2B-0E074FDCD094}"/>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1137806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A7293-6655-7B90-67D3-DCFBF1679281}"/>
              </a:ext>
            </a:extLst>
          </p:cNvPr>
          <p:cNvSpPr>
            <a:spLocks noGrp="1"/>
          </p:cNvSpPr>
          <p:nvPr>
            <p:ph type="title"/>
          </p:nvPr>
        </p:nvSpPr>
        <p:spPr/>
        <p:txBody>
          <a:bodyPr/>
          <a:lstStyle/>
          <a:p>
            <a:r>
              <a:rPr lang="en-US" dirty="0"/>
              <a:t>Machine Learning Model</a:t>
            </a:r>
          </a:p>
        </p:txBody>
      </p:sp>
      <p:sp>
        <p:nvSpPr>
          <p:cNvPr id="3" name="Content Placeholder 2">
            <a:extLst>
              <a:ext uri="{FF2B5EF4-FFF2-40B4-BE49-F238E27FC236}">
                <a16:creationId xmlns:a16="http://schemas.microsoft.com/office/drawing/2014/main" id="{5EF4834A-E137-BBD1-4D31-8EEF86C939E0}"/>
              </a:ext>
            </a:extLst>
          </p:cNvPr>
          <p:cNvSpPr>
            <a:spLocks noGrp="1"/>
          </p:cNvSpPr>
          <p:nvPr>
            <p:ph idx="1"/>
          </p:nvPr>
        </p:nvSpPr>
        <p:spPr>
          <a:xfrm>
            <a:off x="838200" y="1415331"/>
            <a:ext cx="10515600" cy="5136543"/>
          </a:xfrm>
        </p:spPr>
        <p:txBody>
          <a:bodyPr>
            <a:normAutofit fontScale="55000" lnSpcReduction="20000"/>
          </a:bodyPr>
          <a:lstStyle/>
          <a:p>
            <a:pPr marL="0" indent="0">
              <a:buNone/>
            </a:pPr>
            <a:r>
              <a:rPr lang="en-US" b="1" dirty="0"/>
              <a:t>Algorithm Used</a:t>
            </a:r>
            <a:r>
              <a:rPr lang="en-US" dirty="0"/>
              <a:t>:  </a:t>
            </a:r>
            <a:r>
              <a:rPr lang="en-US" sz="2400" dirty="0"/>
              <a:t>Decision Tree Classifier</a:t>
            </a:r>
          </a:p>
          <a:p>
            <a:pPr marL="0" indent="0">
              <a:buNone/>
            </a:pPr>
            <a:r>
              <a:rPr lang="en-US" sz="2400" b="1" dirty="0"/>
              <a:t>Type: </a:t>
            </a:r>
            <a:r>
              <a:rPr lang="en-US" sz="2400" dirty="0"/>
              <a:t>Supervised Machine Learning Algorithm</a:t>
            </a:r>
          </a:p>
          <a:p>
            <a:pPr marL="0" indent="0">
              <a:buNone/>
            </a:pPr>
            <a:endParaRPr lang="en-US" sz="2400" dirty="0"/>
          </a:p>
          <a:p>
            <a:pPr marL="0" indent="0">
              <a:buNone/>
            </a:pPr>
            <a:r>
              <a:rPr lang="en-US" sz="2400" b="1" dirty="0"/>
              <a:t>Purpose: </a:t>
            </a:r>
            <a:r>
              <a:rPr lang="en-US" sz="2400" dirty="0"/>
              <a:t>Binary Classification</a:t>
            </a:r>
          </a:p>
          <a:p>
            <a:r>
              <a:rPr lang="en-US" sz="2400" dirty="0"/>
              <a:t>Working Principle:</a:t>
            </a:r>
          </a:p>
          <a:p>
            <a:r>
              <a:rPr lang="en-US" sz="2400" dirty="0"/>
              <a:t>Splits data based on feature conditions</a:t>
            </a:r>
          </a:p>
          <a:p>
            <a:r>
              <a:rPr lang="en-US" sz="2400" dirty="0"/>
              <a:t>Forms tree structure of decisions</a:t>
            </a:r>
          </a:p>
          <a:p>
            <a:r>
              <a:rPr lang="en-US" sz="2400" dirty="0"/>
              <a:t>Uses Gini Index / Information Gain</a:t>
            </a:r>
          </a:p>
          <a:p>
            <a:pPr marL="0" indent="0">
              <a:buNone/>
            </a:pPr>
            <a:r>
              <a:rPr lang="en-US" sz="2400" b="1" dirty="0"/>
              <a:t> </a:t>
            </a:r>
          </a:p>
          <a:p>
            <a:pPr marL="0" indent="0">
              <a:buNone/>
            </a:pPr>
            <a:r>
              <a:rPr lang="en-US" sz="2400" b="1" dirty="0"/>
              <a:t> Output:</a:t>
            </a:r>
          </a:p>
          <a:p>
            <a:r>
              <a:rPr lang="en-US" sz="2400" dirty="0"/>
              <a:t>Class prediction (Disease / No Disease)</a:t>
            </a:r>
          </a:p>
          <a:p>
            <a:r>
              <a:rPr lang="en-US" sz="2400" dirty="0"/>
              <a:t>Probability score</a:t>
            </a:r>
          </a:p>
          <a:p>
            <a:endParaRPr lang="en-US" sz="2400" dirty="0"/>
          </a:p>
          <a:p>
            <a:pPr marL="0" indent="0">
              <a:buNone/>
            </a:pPr>
            <a:r>
              <a:rPr lang="en-US" sz="2400" b="1" dirty="0"/>
              <a:t> Advantages:</a:t>
            </a:r>
          </a:p>
          <a:p>
            <a:r>
              <a:rPr lang="en-US" sz="2400" dirty="0"/>
              <a:t>Easy to understand and visualize</a:t>
            </a:r>
          </a:p>
          <a:p>
            <a:r>
              <a:rPr lang="en-US" sz="2400" dirty="0"/>
              <a:t>Rule-based prediction</a:t>
            </a:r>
          </a:p>
          <a:p>
            <a:r>
              <a:rPr lang="en-US" sz="2400" dirty="0"/>
              <a:t>Handles non-linear data</a:t>
            </a:r>
          </a:p>
          <a:p>
            <a:r>
              <a:rPr lang="en-US" sz="2400" dirty="0"/>
              <a:t>No complex math required</a:t>
            </a:r>
          </a:p>
          <a:p>
            <a:r>
              <a:rPr lang="en-US" sz="2400" dirty="0"/>
              <a:t>• Used in healthcare decision support systems</a:t>
            </a:r>
          </a:p>
          <a:p>
            <a:pPr marL="0" indent="0">
              <a:buNone/>
            </a:pPr>
            <a:endParaRPr lang="en-US" sz="2400" dirty="0"/>
          </a:p>
        </p:txBody>
      </p:sp>
      <p:sp>
        <p:nvSpPr>
          <p:cNvPr id="4" name="Footer Placeholder 3">
            <a:extLst>
              <a:ext uri="{FF2B5EF4-FFF2-40B4-BE49-F238E27FC236}">
                <a16:creationId xmlns:a16="http://schemas.microsoft.com/office/drawing/2014/main" id="{A7833BF1-1B9A-2C94-8FC8-7C0DE93A9E0F}"/>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193892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63ED3-598F-CD69-4AB4-F4BD08EAB4E6}"/>
              </a:ext>
            </a:extLst>
          </p:cNvPr>
          <p:cNvSpPr>
            <a:spLocks noGrp="1"/>
          </p:cNvSpPr>
          <p:nvPr>
            <p:ph type="title"/>
          </p:nvPr>
        </p:nvSpPr>
        <p:spPr/>
        <p:txBody>
          <a:bodyPr/>
          <a:lstStyle/>
          <a:p>
            <a:r>
              <a:rPr lang="en-US" dirty="0"/>
              <a:t>How Decision Tree Works</a:t>
            </a:r>
          </a:p>
        </p:txBody>
      </p:sp>
      <p:sp>
        <p:nvSpPr>
          <p:cNvPr id="4" name="Footer Placeholder 3">
            <a:extLst>
              <a:ext uri="{FF2B5EF4-FFF2-40B4-BE49-F238E27FC236}">
                <a16:creationId xmlns:a16="http://schemas.microsoft.com/office/drawing/2014/main" id="{1B325FE9-F23F-E929-2E93-2F1A579554AF}"/>
              </a:ext>
            </a:extLst>
          </p:cNvPr>
          <p:cNvSpPr>
            <a:spLocks noGrp="1"/>
          </p:cNvSpPr>
          <p:nvPr>
            <p:ph type="ftr" sz="quarter" idx="11"/>
          </p:nvPr>
        </p:nvSpPr>
        <p:spPr/>
        <p:txBody>
          <a:bodyPr/>
          <a:lstStyle/>
          <a:p>
            <a:r>
              <a:rPr lang="en-IN"/>
              <a:t>ICICC-2021</a:t>
            </a:r>
          </a:p>
        </p:txBody>
      </p:sp>
      <p:sp>
        <p:nvSpPr>
          <p:cNvPr id="5" name="Rectangle 1">
            <a:extLst>
              <a:ext uri="{FF2B5EF4-FFF2-40B4-BE49-F238E27FC236}">
                <a16:creationId xmlns:a16="http://schemas.microsoft.com/office/drawing/2014/main" id="{FFB37CDF-8016-B5E5-712D-B5DF6B49D975}"/>
              </a:ext>
            </a:extLst>
          </p:cNvPr>
          <p:cNvSpPr>
            <a:spLocks noGrp="1" noChangeArrowheads="1"/>
          </p:cNvSpPr>
          <p:nvPr>
            <p:ph idx="1"/>
          </p:nvPr>
        </p:nvSpPr>
        <p:spPr bwMode="auto">
          <a:xfrm>
            <a:off x="588397" y="-833924"/>
            <a:ext cx="9549516" cy="7571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Dataset is loaded into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features and target label are separated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Algorithm selects best feature for root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splits based on feature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Tree grows until stopping criteria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leaf node gives final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New patient data passes through the tree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Path of rules leads to prediction result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Example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          If Age &gt; 50</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   If Cholesterol &gt; 240</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 High Risk</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 Else</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 Medium Risk</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         Else</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 Low Risk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1881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59B69-0BCA-F123-DE28-E81E4B29B170}"/>
              </a:ext>
            </a:extLst>
          </p:cNvPr>
          <p:cNvSpPr>
            <a:spLocks noGrp="1"/>
          </p:cNvSpPr>
          <p:nvPr>
            <p:ph type="title"/>
          </p:nvPr>
        </p:nvSpPr>
        <p:spPr/>
        <p:txBody>
          <a:bodyPr/>
          <a:lstStyle/>
          <a:p>
            <a:r>
              <a:rPr lang="en-US" dirty="0"/>
              <a:t>                                                               </a:t>
            </a:r>
          </a:p>
        </p:txBody>
      </p:sp>
      <p:pic>
        <p:nvPicPr>
          <p:cNvPr id="6" name="Content Placeholder 5">
            <a:extLst>
              <a:ext uri="{FF2B5EF4-FFF2-40B4-BE49-F238E27FC236}">
                <a16:creationId xmlns:a16="http://schemas.microsoft.com/office/drawing/2014/main" id="{E95664B6-BB02-DBE0-F82E-0C6444C559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4587" y="874644"/>
            <a:ext cx="7551907" cy="4905954"/>
          </a:xfrm>
        </p:spPr>
      </p:pic>
      <p:sp>
        <p:nvSpPr>
          <p:cNvPr id="4" name="Footer Placeholder 3">
            <a:extLst>
              <a:ext uri="{FF2B5EF4-FFF2-40B4-BE49-F238E27FC236}">
                <a16:creationId xmlns:a16="http://schemas.microsoft.com/office/drawing/2014/main" id="{B0A30369-0235-BF3A-254D-F91D04223F85}"/>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723505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1F80E-7E2F-985E-FA61-D6EC03EEB95E}"/>
              </a:ext>
            </a:extLst>
          </p:cNvPr>
          <p:cNvSpPr>
            <a:spLocks noGrp="1"/>
          </p:cNvSpPr>
          <p:nvPr>
            <p:ph type="title"/>
          </p:nvPr>
        </p:nvSpPr>
        <p:spPr/>
        <p:txBody>
          <a:bodyPr/>
          <a:lstStyle/>
          <a:p>
            <a:r>
              <a:rPr lang="en-US" dirty="0"/>
              <a:t>Model Prediction Flow</a:t>
            </a:r>
          </a:p>
        </p:txBody>
      </p:sp>
      <p:sp>
        <p:nvSpPr>
          <p:cNvPr id="3" name="Content Placeholder 2">
            <a:extLst>
              <a:ext uri="{FF2B5EF4-FFF2-40B4-BE49-F238E27FC236}">
                <a16:creationId xmlns:a16="http://schemas.microsoft.com/office/drawing/2014/main" id="{FB3CC395-5298-47A4-5DB1-CAFF323228B4}"/>
              </a:ext>
            </a:extLst>
          </p:cNvPr>
          <p:cNvSpPr>
            <a:spLocks noGrp="1"/>
          </p:cNvSpPr>
          <p:nvPr>
            <p:ph idx="1"/>
          </p:nvPr>
        </p:nvSpPr>
        <p:spPr>
          <a:xfrm>
            <a:off x="838200" y="1825625"/>
            <a:ext cx="10866120" cy="4766006"/>
          </a:xfrm>
        </p:spPr>
        <p:txBody>
          <a:bodyPr/>
          <a:lstStyle/>
          <a:p>
            <a:r>
              <a:rPr lang="en-US" sz="2000" dirty="0"/>
              <a:t>Patient Input → Feature Selection → Decision Tree Rules</a:t>
            </a:r>
            <a:br>
              <a:rPr lang="en-US" sz="2000" dirty="0"/>
            </a:br>
            <a:r>
              <a:rPr lang="en-US" sz="2000" dirty="0"/>
              <a:t>                                                              → Risk Classification → Result Display → Blockchain Storage</a:t>
            </a:r>
          </a:p>
          <a:p>
            <a:pPr marL="0" indent="0">
              <a:buNone/>
            </a:pPr>
            <a:endParaRPr lang="en-US" dirty="0"/>
          </a:p>
          <a:p>
            <a:pPr marL="0" indent="0">
              <a:buNone/>
            </a:pPr>
            <a:r>
              <a:rPr lang="en-US" sz="2000" dirty="0"/>
              <a:t>• Model evaluates each input feature</a:t>
            </a:r>
            <a:br>
              <a:rPr lang="en-US" sz="2000" dirty="0"/>
            </a:br>
            <a:r>
              <a:rPr lang="en-US" sz="2000" dirty="0"/>
              <a:t>• Follows rule path in tree</a:t>
            </a:r>
            <a:br>
              <a:rPr lang="en-US" sz="2000" dirty="0"/>
            </a:br>
            <a:r>
              <a:rPr lang="en-US" sz="2000" dirty="0"/>
              <a:t>• Generates disease prediction</a:t>
            </a:r>
            <a:br>
              <a:rPr lang="en-US" sz="2000" dirty="0"/>
            </a:br>
            <a:r>
              <a:rPr lang="en-US" sz="2000" dirty="0"/>
              <a:t>• Converts result into risk category</a:t>
            </a:r>
          </a:p>
          <a:p>
            <a:pPr marL="0" indent="0">
              <a:buNone/>
            </a:pPr>
            <a:endParaRPr lang="en-US" dirty="0"/>
          </a:p>
        </p:txBody>
      </p:sp>
      <p:sp>
        <p:nvSpPr>
          <p:cNvPr id="4" name="Footer Placeholder 3">
            <a:extLst>
              <a:ext uri="{FF2B5EF4-FFF2-40B4-BE49-F238E27FC236}">
                <a16:creationId xmlns:a16="http://schemas.microsoft.com/office/drawing/2014/main" id="{4594943A-2FFE-34D9-4425-6689304AF65F}"/>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62556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4758-965D-62A2-9CBF-8BB1BB844F19}"/>
              </a:ext>
            </a:extLst>
          </p:cNvPr>
          <p:cNvSpPr>
            <a:spLocks noGrp="1"/>
          </p:cNvSpPr>
          <p:nvPr>
            <p:ph type="title"/>
          </p:nvPr>
        </p:nvSpPr>
        <p:spPr/>
        <p:txBody>
          <a:bodyPr/>
          <a:lstStyle/>
          <a:p>
            <a:r>
              <a:rPr lang="en-US" dirty="0"/>
              <a:t>Type of Blockchain Is Used</a:t>
            </a:r>
          </a:p>
        </p:txBody>
      </p:sp>
      <p:sp>
        <p:nvSpPr>
          <p:cNvPr id="3" name="Content Placeholder 2">
            <a:extLst>
              <a:ext uri="{FF2B5EF4-FFF2-40B4-BE49-F238E27FC236}">
                <a16:creationId xmlns:a16="http://schemas.microsoft.com/office/drawing/2014/main" id="{9C7FCE30-2463-CEA3-9FF7-85EDC8D5B790}"/>
              </a:ext>
            </a:extLst>
          </p:cNvPr>
          <p:cNvSpPr>
            <a:spLocks noGrp="1"/>
          </p:cNvSpPr>
          <p:nvPr>
            <p:ph idx="1"/>
          </p:nvPr>
        </p:nvSpPr>
        <p:spPr/>
        <p:txBody>
          <a:bodyPr/>
          <a:lstStyle/>
          <a:p>
            <a:pPr marL="0" indent="0">
              <a:buNone/>
            </a:pPr>
            <a:r>
              <a:rPr lang="en-US" b="1" dirty="0"/>
              <a:t>Private Permissioned Blockchain</a:t>
            </a:r>
          </a:p>
          <a:p>
            <a:pPr marL="0" indent="0">
              <a:buNone/>
            </a:pPr>
            <a:r>
              <a:rPr lang="en-US" sz="2000" dirty="0"/>
              <a:t>• The system uses a </a:t>
            </a:r>
            <a:r>
              <a:rPr lang="en-US" sz="2000" b="1" dirty="0"/>
              <a:t>private blockchain</a:t>
            </a:r>
            <a:r>
              <a:rPr lang="en-US" sz="2000" dirty="0"/>
              <a:t>, not a public blockchain like Bitcoin or Ethereum.</a:t>
            </a:r>
            <a:br>
              <a:rPr lang="en-US" sz="2000" dirty="0"/>
            </a:br>
            <a:r>
              <a:rPr lang="en-US" sz="2000" dirty="0"/>
              <a:t>• Only authorized users (doctors, patients, admins) can access the ledger.</a:t>
            </a:r>
            <a:br>
              <a:rPr lang="en-US" sz="2000" dirty="0"/>
            </a:br>
            <a:r>
              <a:rPr lang="en-US" sz="2000" dirty="0"/>
              <a:t>• Transactions are controlled inside the application backend.</a:t>
            </a:r>
            <a:br>
              <a:rPr lang="en-US" sz="2000" dirty="0"/>
            </a:br>
            <a:r>
              <a:rPr lang="en-US" sz="2000" dirty="0"/>
              <a:t>• It is implemented as a </a:t>
            </a:r>
            <a:r>
              <a:rPr lang="en-US" sz="2000" b="1" dirty="0"/>
              <a:t>ledger table with cryptographic hash chaining</a:t>
            </a:r>
            <a:r>
              <a:rPr lang="en-US" sz="2000" dirty="0"/>
              <a:t>.</a:t>
            </a:r>
            <a:br>
              <a:rPr lang="en-US" sz="2000" dirty="0"/>
            </a:br>
            <a:r>
              <a:rPr lang="en-US" sz="2000" dirty="0"/>
              <a:t>• Suitable for healthcare because patient data must remain confidential.</a:t>
            </a:r>
          </a:p>
        </p:txBody>
      </p:sp>
      <p:sp>
        <p:nvSpPr>
          <p:cNvPr id="4" name="Footer Placeholder 3">
            <a:extLst>
              <a:ext uri="{FF2B5EF4-FFF2-40B4-BE49-F238E27FC236}">
                <a16:creationId xmlns:a16="http://schemas.microsoft.com/office/drawing/2014/main" id="{DAC18ABD-66A7-9A06-116B-7AB44A1081F6}"/>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1582508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CD9D-CB66-1285-EA2B-E0B5E059DB63}"/>
              </a:ext>
            </a:extLst>
          </p:cNvPr>
          <p:cNvSpPr>
            <a:spLocks noGrp="1"/>
          </p:cNvSpPr>
          <p:nvPr>
            <p:ph type="title"/>
          </p:nvPr>
        </p:nvSpPr>
        <p:spPr/>
        <p:txBody>
          <a:bodyPr/>
          <a:lstStyle/>
          <a:p>
            <a:r>
              <a:rPr lang="en-US" dirty="0"/>
              <a:t>Blockchain Integration</a:t>
            </a:r>
          </a:p>
        </p:txBody>
      </p:sp>
      <p:sp>
        <p:nvSpPr>
          <p:cNvPr id="3" name="Content Placeholder 2">
            <a:extLst>
              <a:ext uri="{FF2B5EF4-FFF2-40B4-BE49-F238E27FC236}">
                <a16:creationId xmlns:a16="http://schemas.microsoft.com/office/drawing/2014/main" id="{B842384D-3689-6D49-D84C-CEC545195A64}"/>
              </a:ext>
            </a:extLst>
          </p:cNvPr>
          <p:cNvSpPr>
            <a:spLocks noGrp="1"/>
          </p:cNvSpPr>
          <p:nvPr>
            <p:ph idx="1"/>
          </p:nvPr>
        </p:nvSpPr>
        <p:spPr/>
        <p:txBody>
          <a:bodyPr/>
          <a:lstStyle/>
          <a:p>
            <a:r>
              <a:rPr lang="en-US" dirty="0"/>
              <a:t>Patient Prediction</a:t>
            </a:r>
            <a:br>
              <a:rPr lang="en-US" dirty="0"/>
            </a:br>
            <a:r>
              <a:rPr lang="en-US" dirty="0"/>
              <a:t>→ Hash Generation</a:t>
            </a:r>
            <a:br>
              <a:rPr lang="en-US" dirty="0"/>
            </a:br>
            <a:r>
              <a:rPr lang="en-US" dirty="0"/>
              <a:t>→ Ledger Storage</a:t>
            </a:r>
            <a:br>
              <a:rPr lang="en-US" dirty="0"/>
            </a:br>
            <a:r>
              <a:rPr lang="en-US" dirty="0"/>
              <a:t>→ Transaction ID</a:t>
            </a:r>
            <a:br>
              <a:rPr lang="en-US" dirty="0"/>
            </a:br>
            <a:r>
              <a:rPr lang="en-US" dirty="0"/>
              <a:t>→ QR Code</a:t>
            </a:r>
            <a:br>
              <a:rPr lang="en-US" dirty="0"/>
            </a:br>
            <a:r>
              <a:rPr lang="en-US" dirty="0"/>
              <a:t>→ Verification Page</a:t>
            </a:r>
            <a:br>
              <a:rPr lang="en-US" dirty="0"/>
            </a:br>
            <a:r>
              <a:rPr lang="en-US" dirty="0"/>
              <a:t>→ Hash Comparison</a:t>
            </a:r>
            <a:br>
              <a:rPr lang="en-US" dirty="0"/>
            </a:br>
            <a:r>
              <a:rPr lang="en-US" dirty="0"/>
              <a:t>→ Integrity Confirmation</a:t>
            </a:r>
          </a:p>
        </p:txBody>
      </p:sp>
      <p:sp>
        <p:nvSpPr>
          <p:cNvPr id="4" name="Footer Placeholder 3">
            <a:extLst>
              <a:ext uri="{FF2B5EF4-FFF2-40B4-BE49-F238E27FC236}">
                <a16:creationId xmlns:a16="http://schemas.microsoft.com/office/drawing/2014/main" id="{21FF0A8D-5C1F-ADA0-FE06-9034BFEAD2E2}"/>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4185710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3320"/>
            <a:ext cx="10515600" cy="1325563"/>
          </a:xfrm>
        </p:spPr>
        <p:txBody>
          <a:bodyPr/>
          <a:lstStyle/>
          <a:p>
            <a:r>
              <a:rPr dirty="0"/>
              <a:t>Tech Stack Used</a:t>
            </a:r>
          </a:p>
        </p:txBody>
      </p:sp>
      <p:sp>
        <p:nvSpPr>
          <p:cNvPr id="3" name="Content Placeholder 2"/>
          <p:cNvSpPr>
            <a:spLocks noGrp="1"/>
          </p:cNvSpPr>
          <p:nvPr>
            <p:ph idx="1"/>
          </p:nvPr>
        </p:nvSpPr>
        <p:spPr/>
        <p:txBody>
          <a:bodyPr>
            <a:normAutofit/>
          </a:bodyPr>
          <a:lstStyle/>
          <a:p>
            <a:r>
              <a:rPr sz="2000" dirty="0"/>
              <a:t>AI/ML: Python, Scikit-learn, Pandas</a:t>
            </a:r>
            <a:r>
              <a:rPr lang="en-US" sz="2000" dirty="0"/>
              <a:t>, NumPy, Decision Tree Classifier</a:t>
            </a:r>
          </a:p>
          <a:p>
            <a:r>
              <a:rPr lang="en-US" sz="2000" dirty="0"/>
              <a:t>Dataset: UCI Cleveland Heart Disease</a:t>
            </a:r>
            <a:endParaRPr sz="2000" dirty="0"/>
          </a:p>
          <a:p>
            <a:r>
              <a:rPr sz="2000" dirty="0"/>
              <a:t>Backend: Flask, Postman</a:t>
            </a:r>
            <a:r>
              <a:rPr lang="en-US" sz="2000" dirty="0"/>
              <a:t>, Authentication, Database APIs</a:t>
            </a:r>
            <a:endParaRPr sz="2000" dirty="0"/>
          </a:p>
          <a:p>
            <a:r>
              <a:rPr sz="2000" dirty="0"/>
              <a:t>Blockchain: </a:t>
            </a:r>
            <a:r>
              <a:rPr lang="en-US" sz="2000" dirty="0"/>
              <a:t>SHA-256 Hashing, Ledger Table (Hash Chaining), QR Code Verification</a:t>
            </a:r>
            <a:endParaRPr sz="2000" dirty="0"/>
          </a:p>
          <a:p>
            <a:r>
              <a:rPr sz="2000" dirty="0"/>
              <a:t>Frontend: React.js, </a:t>
            </a:r>
            <a:r>
              <a:rPr lang="en-US" sz="2000" dirty="0"/>
              <a:t>TypeScript, Tailwind CSS</a:t>
            </a:r>
            <a:endParaRPr sz="2000" dirty="0"/>
          </a:p>
          <a:p>
            <a:r>
              <a:rPr sz="2000" dirty="0"/>
              <a:t>Database: </a:t>
            </a:r>
            <a:r>
              <a:rPr lang="en-US" sz="2000" dirty="0"/>
              <a:t>PostgreSQL</a:t>
            </a:r>
            <a:endParaRPr sz="2000" dirty="0"/>
          </a:p>
          <a:p>
            <a:r>
              <a:rPr sz="2000" dirty="0"/>
              <a:t>Tools: VS Code, GitHub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76CFB-C1BA-3328-2711-6BF63F0C6EC1}"/>
              </a:ext>
            </a:extLst>
          </p:cNvPr>
          <p:cNvSpPr>
            <a:spLocks noGrp="1"/>
          </p:cNvSpPr>
          <p:nvPr>
            <p:ph type="title"/>
          </p:nvPr>
        </p:nvSpPr>
        <p:spPr/>
        <p:txBody>
          <a:bodyPr/>
          <a:lstStyle/>
          <a:p>
            <a:r>
              <a:rPr lang="en-US" b="1" dirty="0"/>
              <a:t>Structural Diagrams</a:t>
            </a:r>
          </a:p>
        </p:txBody>
      </p:sp>
      <p:sp>
        <p:nvSpPr>
          <p:cNvPr id="3" name="Content Placeholder 2">
            <a:extLst>
              <a:ext uri="{FF2B5EF4-FFF2-40B4-BE49-F238E27FC236}">
                <a16:creationId xmlns:a16="http://schemas.microsoft.com/office/drawing/2014/main" id="{8D2F81F1-D497-2076-E5FF-780FC9893792}"/>
              </a:ext>
            </a:extLst>
          </p:cNvPr>
          <p:cNvSpPr>
            <a:spLocks noGrp="1"/>
          </p:cNvSpPr>
          <p:nvPr>
            <p:ph idx="1"/>
          </p:nvPr>
        </p:nvSpPr>
        <p:spPr/>
        <p:txBody>
          <a:bodyPr>
            <a:normAutofit/>
          </a:bodyPr>
          <a:lstStyle/>
          <a:p>
            <a:pPr marL="400050" indent="-400050">
              <a:buAutoNum type="romanLcPeriod"/>
            </a:pPr>
            <a:r>
              <a:rPr lang="en-US" sz="1600" b="1" dirty="0"/>
              <a:t>Class Diagram</a:t>
            </a:r>
          </a:p>
          <a:p>
            <a:pPr marL="0" indent="0">
              <a:buNone/>
            </a:pPr>
            <a:endParaRPr lang="en-US" sz="1600" b="1" dirty="0"/>
          </a:p>
          <a:p>
            <a:pPr marL="0" indent="0">
              <a:buNone/>
            </a:pPr>
            <a:endParaRPr lang="en-US" sz="1600" b="1" dirty="0"/>
          </a:p>
          <a:p>
            <a:pPr marL="0" indent="0">
              <a:buNone/>
            </a:pPr>
            <a:endParaRPr lang="en-US" sz="1600" b="1" dirty="0"/>
          </a:p>
        </p:txBody>
      </p:sp>
      <p:sp>
        <p:nvSpPr>
          <p:cNvPr id="4" name="Footer Placeholder 3">
            <a:extLst>
              <a:ext uri="{FF2B5EF4-FFF2-40B4-BE49-F238E27FC236}">
                <a16:creationId xmlns:a16="http://schemas.microsoft.com/office/drawing/2014/main" id="{29F89A62-B4B8-09BA-CC17-E6676D545895}"/>
              </a:ext>
            </a:extLst>
          </p:cNvPr>
          <p:cNvSpPr>
            <a:spLocks noGrp="1"/>
          </p:cNvSpPr>
          <p:nvPr>
            <p:ph type="ftr" sz="quarter" idx="11"/>
          </p:nvPr>
        </p:nvSpPr>
        <p:spPr/>
        <p:txBody>
          <a:bodyPr/>
          <a:lstStyle/>
          <a:p>
            <a:r>
              <a:rPr lang="en-IN"/>
              <a:t>ICICC-2021</a:t>
            </a:r>
          </a:p>
        </p:txBody>
      </p:sp>
      <p:pic>
        <p:nvPicPr>
          <p:cNvPr id="6" name="Picture 5">
            <a:extLst>
              <a:ext uri="{FF2B5EF4-FFF2-40B4-BE49-F238E27FC236}">
                <a16:creationId xmlns:a16="http://schemas.microsoft.com/office/drawing/2014/main" id="{DE1C0B42-A255-251E-FD26-1A888D27ED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5805" y="2099144"/>
            <a:ext cx="6583955" cy="4480998"/>
          </a:xfrm>
          <a:prstGeom prst="rect">
            <a:avLst/>
          </a:prstGeom>
        </p:spPr>
      </p:pic>
    </p:spTree>
    <p:extLst>
      <p:ext uri="{BB962C8B-B14F-4D97-AF65-F5344CB8AC3E}">
        <p14:creationId xmlns:p14="http://schemas.microsoft.com/office/powerpoint/2010/main" val="3891082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E962-CAA2-8409-C87F-4DABF0BF0443}"/>
              </a:ext>
            </a:extLst>
          </p:cNvPr>
          <p:cNvSpPr>
            <a:spLocks noGrp="1"/>
          </p:cNvSpPr>
          <p:nvPr>
            <p:ph type="title"/>
          </p:nvPr>
        </p:nvSpPr>
        <p:spPr/>
        <p:txBody>
          <a:bodyPr>
            <a:normAutofit/>
          </a:bodyPr>
          <a:lstStyle/>
          <a:p>
            <a:r>
              <a:rPr lang="en-US" sz="1600" b="1" dirty="0"/>
              <a:t>ii. Object Diagram</a:t>
            </a:r>
          </a:p>
        </p:txBody>
      </p:sp>
      <p:pic>
        <p:nvPicPr>
          <p:cNvPr id="6" name="Content Placeholder 5">
            <a:extLst>
              <a:ext uri="{FF2B5EF4-FFF2-40B4-BE49-F238E27FC236}">
                <a16:creationId xmlns:a16="http://schemas.microsoft.com/office/drawing/2014/main" id="{2F4376C9-1B6C-D965-8CF7-DFE9F008AA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5837" y="1825625"/>
            <a:ext cx="6202017" cy="4351338"/>
          </a:xfrm>
        </p:spPr>
      </p:pic>
      <p:sp>
        <p:nvSpPr>
          <p:cNvPr id="4" name="Footer Placeholder 3">
            <a:extLst>
              <a:ext uri="{FF2B5EF4-FFF2-40B4-BE49-F238E27FC236}">
                <a16:creationId xmlns:a16="http://schemas.microsoft.com/office/drawing/2014/main" id="{698A3C08-C7F6-CB7E-EAE4-E8C20A6F166D}"/>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872012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BB2AB-800C-65AD-3694-D70FAF2DAD6B}"/>
              </a:ext>
            </a:extLst>
          </p:cNvPr>
          <p:cNvSpPr>
            <a:spLocks noGrp="1"/>
          </p:cNvSpPr>
          <p:nvPr>
            <p:ph type="title"/>
          </p:nvPr>
        </p:nvSpPr>
        <p:spPr/>
        <p:txBody>
          <a:bodyPr>
            <a:normAutofit/>
          </a:bodyPr>
          <a:lstStyle/>
          <a:p>
            <a:r>
              <a:rPr lang="en-US" sz="1600" b="1" dirty="0"/>
              <a:t>iii. Component Diagram</a:t>
            </a:r>
          </a:p>
        </p:txBody>
      </p:sp>
      <p:pic>
        <p:nvPicPr>
          <p:cNvPr id="6" name="Content Placeholder 5">
            <a:extLst>
              <a:ext uri="{FF2B5EF4-FFF2-40B4-BE49-F238E27FC236}">
                <a16:creationId xmlns:a16="http://schemas.microsoft.com/office/drawing/2014/main" id="{59969B8A-9DFB-B8D3-2AFF-48B09F18C2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9150" y="1825625"/>
            <a:ext cx="6373699" cy="4351338"/>
          </a:xfrm>
        </p:spPr>
      </p:pic>
      <p:sp>
        <p:nvSpPr>
          <p:cNvPr id="4" name="Footer Placeholder 3">
            <a:extLst>
              <a:ext uri="{FF2B5EF4-FFF2-40B4-BE49-F238E27FC236}">
                <a16:creationId xmlns:a16="http://schemas.microsoft.com/office/drawing/2014/main" id="{A3C893DC-007A-EA65-7FDD-A41E96691456}"/>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045451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927A6-036C-36A5-B365-05BC311F51DD}"/>
              </a:ext>
            </a:extLst>
          </p:cNvPr>
          <p:cNvSpPr>
            <a:spLocks noGrp="1"/>
          </p:cNvSpPr>
          <p:nvPr>
            <p:ph type="title"/>
          </p:nvPr>
        </p:nvSpPr>
        <p:spPr/>
        <p:txBody>
          <a:bodyPr>
            <a:normAutofit/>
          </a:bodyPr>
          <a:lstStyle/>
          <a:p>
            <a:r>
              <a:rPr lang="en-US" sz="1600" b="1" dirty="0"/>
              <a:t>iv. Deployment Diagram</a:t>
            </a:r>
          </a:p>
        </p:txBody>
      </p:sp>
      <p:pic>
        <p:nvPicPr>
          <p:cNvPr id="6" name="Content Placeholder 5">
            <a:extLst>
              <a:ext uri="{FF2B5EF4-FFF2-40B4-BE49-F238E27FC236}">
                <a16:creationId xmlns:a16="http://schemas.microsoft.com/office/drawing/2014/main" id="{796B1FA4-E598-4831-958F-786578D75D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2730" y="1825625"/>
            <a:ext cx="5166539" cy="4351338"/>
          </a:xfrm>
        </p:spPr>
      </p:pic>
      <p:sp>
        <p:nvSpPr>
          <p:cNvPr id="4" name="Footer Placeholder 3">
            <a:extLst>
              <a:ext uri="{FF2B5EF4-FFF2-40B4-BE49-F238E27FC236}">
                <a16:creationId xmlns:a16="http://schemas.microsoft.com/office/drawing/2014/main" id="{C9C55BC3-294E-409B-4A25-E722D057504E}"/>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190132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45FA-C6FB-5E2B-4A9B-06826686DAA4}"/>
              </a:ext>
            </a:extLst>
          </p:cNvPr>
          <p:cNvSpPr>
            <a:spLocks noGrp="1"/>
          </p:cNvSpPr>
          <p:nvPr>
            <p:ph type="title"/>
          </p:nvPr>
        </p:nvSpPr>
        <p:spPr/>
        <p:txBody>
          <a:bodyPr>
            <a:normAutofit/>
          </a:bodyPr>
          <a:lstStyle/>
          <a:p>
            <a:r>
              <a:rPr lang="en-US" sz="1600" b="1" dirty="0"/>
              <a:t>v. Package Diagram</a:t>
            </a:r>
          </a:p>
        </p:txBody>
      </p:sp>
      <p:pic>
        <p:nvPicPr>
          <p:cNvPr id="6" name="Content Placeholder 5">
            <a:extLst>
              <a:ext uri="{FF2B5EF4-FFF2-40B4-BE49-F238E27FC236}">
                <a16:creationId xmlns:a16="http://schemas.microsoft.com/office/drawing/2014/main" id="{813682C4-9637-BC70-62F0-F4EB5DA29D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9608" y="1825625"/>
            <a:ext cx="6472784" cy="4351338"/>
          </a:xfrm>
        </p:spPr>
      </p:pic>
      <p:sp>
        <p:nvSpPr>
          <p:cNvPr id="4" name="Footer Placeholder 3">
            <a:extLst>
              <a:ext uri="{FF2B5EF4-FFF2-40B4-BE49-F238E27FC236}">
                <a16:creationId xmlns:a16="http://schemas.microsoft.com/office/drawing/2014/main" id="{3DCED9F2-1230-79EC-B98A-6443E9798E21}"/>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1891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C41F-FEA7-15B6-A6F7-1F36058B1639}"/>
              </a:ext>
            </a:extLst>
          </p:cNvPr>
          <p:cNvSpPr>
            <a:spLocks noGrp="1"/>
          </p:cNvSpPr>
          <p:nvPr>
            <p:ph type="title"/>
          </p:nvPr>
        </p:nvSpPr>
        <p:spPr/>
        <p:txBody>
          <a:bodyPr>
            <a:normAutofit/>
          </a:bodyPr>
          <a:lstStyle/>
          <a:p>
            <a:r>
              <a:rPr lang="en-US" sz="1600" b="1" dirty="0"/>
              <a:t>vi. Composite Structure Diagram</a:t>
            </a:r>
          </a:p>
        </p:txBody>
      </p:sp>
      <p:pic>
        <p:nvPicPr>
          <p:cNvPr id="6" name="Content Placeholder 5">
            <a:extLst>
              <a:ext uri="{FF2B5EF4-FFF2-40B4-BE49-F238E27FC236}">
                <a16:creationId xmlns:a16="http://schemas.microsoft.com/office/drawing/2014/main" id="{9EF1F495-8288-E4A5-456F-8666FDC97E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7197" y="1690688"/>
            <a:ext cx="7601446" cy="4486275"/>
          </a:xfrm>
        </p:spPr>
      </p:pic>
      <p:sp>
        <p:nvSpPr>
          <p:cNvPr id="4" name="Footer Placeholder 3">
            <a:extLst>
              <a:ext uri="{FF2B5EF4-FFF2-40B4-BE49-F238E27FC236}">
                <a16:creationId xmlns:a16="http://schemas.microsoft.com/office/drawing/2014/main" id="{0BF1F04D-105D-04C7-2015-74DB7DF613E4}"/>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1030200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CD975-927C-52F0-921E-17CA20311773}"/>
              </a:ext>
            </a:extLst>
          </p:cNvPr>
          <p:cNvSpPr>
            <a:spLocks noGrp="1"/>
          </p:cNvSpPr>
          <p:nvPr>
            <p:ph type="title"/>
          </p:nvPr>
        </p:nvSpPr>
        <p:spPr/>
        <p:txBody>
          <a:bodyPr>
            <a:normAutofit/>
          </a:bodyPr>
          <a:lstStyle/>
          <a:p>
            <a:r>
              <a:rPr lang="en-US" sz="1600" b="1" dirty="0"/>
              <a:t>vii. Profile Diagram</a:t>
            </a:r>
          </a:p>
        </p:txBody>
      </p:sp>
      <p:pic>
        <p:nvPicPr>
          <p:cNvPr id="6" name="Content Placeholder 5">
            <a:extLst>
              <a:ext uri="{FF2B5EF4-FFF2-40B4-BE49-F238E27FC236}">
                <a16:creationId xmlns:a16="http://schemas.microsoft.com/office/drawing/2014/main" id="{F792317A-77DE-E352-5F7D-0C10BFE942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0926" y="1847850"/>
            <a:ext cx="6563212" cy="4351338"/>
          </a:xfrm>
        </p:spPr>
      </p:pic>
      <p:sp>
        <p:nvSpPr>
          <p:cNvPr id="4" name="Footer Placeholder 3">
            <a:extLst>
              <a:ext uri="{FF2B5EF4-FFF2-40B4-BE49-F238E27FC236}">
                <a16:creationId xmlns:a16="http://schemas.microsoft.com/office/drawing/2014/main" id="{31606AF5-A153-0A9A-6014-37668AC8F7B5}"/>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1135891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A09B8-3278-0CA6-945E-67B9AEA7E061}"/>
              </a:ext>
            </a:extLst>
          </p:cNvPr>
          <p:cNvSpPr>
            <a:spLocks noGrp="1"/>
          </p:cNvSpPr>
          <p:nvPr>
            <p:ph type="title"/>
          </p:nvPr>
        </p:nvSpPr>
        <p:spPr/>
        <p:txBody>
          <a:bodyPr/>
          <a:lstStyle/>
          <a:p>
            <a:r>
              <a:rPr lang="en-US" dirty="0"/>
              <a:t>Behavioral Diagram</a:t>
            </a:r>
          </a:p>
        </p:txBody>
      </p:sp>
      <p:sp>
        <p:nvSpPr>
          <p:cNvPr id="3" name="Content Placeholder 2">
            <a:extLst>
              <a:ext uri="{FF2B5EF4-FFF2-40B4-BE49-F238E27FC236}">
                <a16:creationId xmlns:a16="http://schemas.microsoft.com/office/drawing/2014/main" id="{6030B92B-FEAC-BC6C-FC5A-53CCE8F5AE34}"/>
              </a:ext>
            </a:extLst>
          </p:cNvPr>
          <p:cNvSpPr>
            <a:spLocks noGrp="1"/>
          </p:cNvSpPr>
          <p:nvPr>
            <p:ph idx="1"/>
          </p:nvPr>
        </p:nvSpPr>
        <p:spPr/>
        <p:txBody>
          <a:bodyPr>
            <a:normAutofit/>
          </a:bodyPr>
          <a:lstStyle/>
          <a:p>
            <a:pPr marL="400050" indent="-400050">
              <a:buAutoNum type="romanLcPeriod"/>
            </a:pPr>
            <a:r>
              <a:rPr lang="en-US" sz="1600" b="1" dirty="0"/>
              <a:t>Use Case Diagram </a:t>
            </a:r>
          </a:p>
          <a:p>
            <a:pPr marL="400050" indent="-400050">
              <a:buAutoNum type="romanLcPeriod"/>
            </a:pPr>
            <a:endParaRPr lang="en-US" sz="1600" b="1" dirty="0"/>
          </a:p>
          <a:p>
            <a:pPr marL="0" indent="0">
              <a:buNone/>
            </a:pPr>
            <a:endParaRPr lang="en-US" sz="1600" b="1" dirty="0"/>
          </a:p>
        </p:txBody>
      </p:sp>
      <p:sp>
        <p:nvSpPr>
          <p:cNvPr id="4" name="Footer Placeholder 3">
            <a:extLst>
              <a:ext uri="{FF2B5EF4-FFF2-40B4-BE49-F238E27FC236}">
                <a16:creationId xmlns:a16="http://schemas.microsoft.com/office/drawing/2014/main" id="{5272F7C8-E51C-27BC-B6EB-8C87FA84BC98}"/>
              </a:ext>
            </a:extLst>
          </p:cNvPr>
          <p:cNvSpPr>
            <a:spLocks noGrp="1"/>
          </p:cNvSpPr>
          <p:nvPr>
            <p:ph type="ftr" sz="quarter" idx="11"/>
          </p:nvPr>
        </p:nvSpPr>
        <p:spPr/>
        <p:txBody>
          <a:bodyPr/>
          <a:lstStyle/>
          <a:p>
            <a:r>
              <a:rPr lang="en-IN"/>
              <a:t>ICICC-2021</a:t>
            </a:r>
          </a:p>
        </p:txBody>
      </p:sp>
      <p:pic>
        <p:nvPicPr>
          <p:cNvPr id="6" name="Picture 5">
            <a:extLst>
              <a:ext uri="{FF2B5EF4-FFF2-40B4-BE49-F238E27FC236}">
                <a16:creationId xmlns:a16="http://schemas.microsoft.com/office/drawing/2014/main" id="{B9FCCCB7-BDE4-6579-842A-F951CC3B4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0479" y="2337683"/>
            <a:ext cx="7171041" cy="4351338"/>
          </a:xfrm>
          <a:prstGeom prst="rect">
            <a:avLst/>
          </a:prstGeom>
        </p:spPr>
      </p:pic>
    </p:spTree>
    <p:extLst>
      <p:ext uri="{BB962C8B-B14F-4D97-AF65-F5344CB8AC3E}">
        <p14:creationId xmlns:p14="http://schemas.microsoft.com/office/powerpoint/2010/main" val="1153372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62665-9B33-B408-9FC1-BB2C9F47C13B}"/>
              </a:ext>
            </a:extLst>
          </p:cNvPr>
          <p:cNvSpPr>
            <a:spLocks noGrp="1"/>
          </p:cNvSpPr>
          <p:nvPr>
            <p:ph type="title"/>
          </p:nvPr>
        </p:nvSpPr>
        <p:spPr/>
        <p:txBody>
          <a:bodyPr>
            <a:normAutofit/>
          </a:bodyPr>
          <a:lstStyle/>
          <a:p>
            <a:r>
              <a:rPr lang="en-US" sz="1600" b="1" dirty="0"/>
              <a:t>ii. Activity Diagram</a:t>
            </a:r>
          </a:p>
        </p:txBody>
      </p:sp>
      <p:pic>
        <p:nvPicPr>
          <p:cNvPr id="6" name="Content Placeholder 5">
            <a:extLst>
              <a:ext uri="{FF2B5EF4-FFF2-40B4-BE49-F238E27FC236}">
                <a16:creationId xmlns:a16="http://schemas.microsoft.com/office/drawing/2014/main" id="{69DD75DC-E754-FE0F-0EE3-A1FF53E546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0371" y="1690688"/>
            <a:ext cx="7164323" cy="4351338"/>
          </a:xfrm>
        </p:spPr>
      </p:pic>
      <p:sp>
        <p:nvSpPr>
          <p:cNvPr id="4" name="Footer Placeholder 3">
            <a:extLst>
              <a:ext uri="{FF2B5EF4-FFF2-40B4-BE49-F238E27FC236}">
                <a16:creationId xmlns:a16="http://schemas.microsoft.com/office/drawing/2014/main" id="{1C43B21D-5005-370A-D368-CC08A3647C94}"/>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756298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7379-69C0-AE9A-AEC5-8208F244B059}"/>
              </a:ext>
            </a:extLst>
          </p:cNvPr>
          <p:cNvSpPr>
            <a:spLocks noGrp="1"/>
          </p:cNvSpPr>
          <p:nvPr>
            <p:ph type="title"/>
          </p:nvPr>
        </p:nvSpPr>
        <p:spPr/>
        <p:txBody>
          <a:bodyPr>
            <a:normAutofit/>
          </a:bodyPr>
          <a:lstStyle/>
          <a:p>
            <a:r>
              <a:rPr lang="en-US" sz="1600" b="1" dirty="0"/>
              <a:t>iii. State Machine Diagram</a:t>
            </a:r>
          </a:p>
        </p:txBody>
      </p:sp>
      <p:pic>
        <p:nvPicPr>
          <p:cNvPr id="6" name="Content Placeholder 5">
            <a:extLst>
              <a:ext uri="{FF2B5EF4-FFF2-40B4-BE49-F238E27FC236}">
                <a16:creationId xmlns:a16="http://schemas.microsoft.com/office/drawing/2014/main" id="{D482DCE5-C8FB-F569-0791-D3A1F22685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6864" y="1690688"/>
            <a:ext cx="6210545" cy="4508500"/>
          </a:xfrm>
        </p:spPr>
      </p:pic>
      <p:sp>
        <p:nvSpPr>
          <p:cNvPr id="4" name="Footer Placeholder 3">
            <a:extLst>
              <a:ext uri="{FF2B5EF4-FFF2-40B4-BE49-F238E27FC236}">
                <a16:creationId xmlns:a16="http://schemas.microsoft.com/office/drawing/2014/main" id="{DB5C272A-6C27-2B8F-7359-18BEAFE04CA4}"/>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534869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82A6-DB4F-3547-F0D1-F9E41DF50218}"/>
              </a:ext>
            </a:extLst>
          </p:cNvPr>
          <p:cNvSpPr>
            <a:spLocks noGrp="1"/>
          </p:cNvSpPr>
          <p:nvPr>
            <p:ph type="title"/>
          </p:nvPr>
        </p:nvSpPr>
        <p:spPr/>
        <p:txBody>
          <a:bodyPr>
            <a:normAutofit/>
          </a:bodyPr>
          <a:lstStyle/>
          <a:p>
            <a:r>
              <a:rPr lang="en-US" sz="1600" b="1" dirty="0"/>
              <a:t>iv. Sequence Diagram</a:t>
            </a:r>
          </a:p>
        </p:txBody>
      </p:sp>
      <p:pic>
        <p:nvPicPr>
          <p:cNvPr id="6" name="Content Placeholder 5">
            <a:extLst>
              <a:ext uri="{FF2B5EF4-FFF2-40B4-BE49-F238E27FC236}">
                <a16:creationId xmlns:a16="http://schemas.microsoft.com/office/drawing/2014/main" id="{2B836809-5144-F31F-63EB-CAF539337D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9"/>
            <a:ext cx="10515600" cy="3933796"/>
          </a:xfrm>
        </p:spPr>
      </p:pic>
      <p:sp>
        <p:nvSpPr>
          <p:cNvPr id="4" name="Footer Placeholder 3">
            <a:extLst>
              <a:ext uri="{FF2B5EF4-FFF2-40B4-BE49-F238E27FC236}">
                <a16:creationId xmlns:a16="http://schemas.microsoft.com/office/drawing/2014/main" id="{F554DA03-7978-061D-7695-11AF50AB7CB4}"/>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2204693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01FA-C958-C36F-90D0-875FB574A41B}"/>
              </a:ext>
            </a:extLst>
          </p:cNvPr>
          <p:cNvSpPr>
            <a:spLocks noGrp="1"/>
          </p:cNvSpPr>
          <p:nvPr>
            <p:ph type="title"/>
          </p:nvPr>
        </p:nvSpPr>
        <p:spPr/>
        <p:txBody>
          <a:bodyPr>
            <a:normAutofit/>
          </a:bodyPr>
          <a:lstStyle/>
          <a:p>
            <a:r>
              <a:rPr lang="en-US" sz="1600" b="1" dirty="0"/>
              <a:t>v. Communication Diagram</a:t>
            </a:r>
          </a:p>
        </p:txBody>
      </p:sp>
      <p:pic>
        <p:nvPicPr>
          <p:cNvPr id="6" name="Content Placeholder 5">
            <a:extLst>
              <a:ext uri="{FF2B5EF4-FFF2-40B4-BE49-F238E27FC236}">
                <a16:creationId xmlns:a16="http://schemas.microsoft.com/office/drawing/2014/main" id="{47DF2722-AD66-AC78-B57F-2B39E039ED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3830" y="1566407"/>
            <a:ext cx="7712765" cy="4610556"/>
          </a:xfrm>
        </p:spPr>
      </p:pic>
      <p:sp>
        <p:nvSpPr>
          <p:cNvPr id="4" name="Footer Placeholder 3">
            <a:extLst>
              <a:ext uri="{FF2B5EF4-FFF2-40B4-BE49-F238E27FC236}">
                <a16:creationId xmlns:a16="http://schemas.microsoft.com/office/drawing/2014/main" id="{A7EE9AEF-AE29-F156-B4AB-83D646D055AA}"/>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609774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1ADD5-AB61-988A-045B-903CDB881651}"/>
              </a:ext>
            </a:extLst>
          </p:cNvPr>
          <p:cNvSpPr>
            <a:spLocks noGrp="1"/>
          </p:cNvSpPr>
          <p:nvPr>
            <p:ph type="title"/>
          </p:nvPr>
        </p:nvSpPr>
        <p:spPr/>
        <p:txBody>
          <a:bodyPr>
            <a:normAutofit/>
          </a:bodyPr>
          <a:lstStyle/>
          <a:p>
            <a:r>
              <a:rPr lang="en-US" sz="1600" b="1" dirty="0"/>
              <a:t>vi. Interactive Overview Diagram</a:t>
            </a:r>
          </a:p>
        </p:txBody>
      </p:sp>
      <p:pic>
        <p:nvPicPr>
          <p:cNvPr id="6" name="Content Placeholder 5">
            <a:extLst>
              <a:ext uri="{FF2B5EF4-FFF2-40B4-BE49-F238E27FC236}">
                <a16:creationId xmlns:a16="http://schemas.microsoft.com/office/drawing/2014/main" id="{F5274D4C-6E35-D7E8-5FD2-9986D490C8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9287" y="1690688"/>
            <a:ext cx="7863840" cy="4486275"/>
          </a:xfrm>
        </p:spPr>
      </p:pic>
      <p:sp>
        <p:nvSpPr>
          <p:cNvPr id="4" name="Footer Placeholder 3">
            <a:extLst>
              <a:ext uri="{FF2B5EF4-FFF2-40B4-BE49-F238E27FC236}">
                <a16:creationId xmlns:a16="http://schemas.microsoft.com/office/drawing/2014/main" id="{CF53282C-9571-C3A7-4D7F-E8753DF498BB}"/>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1622680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72157-BCCD-524E-5394-CB4B42CCFAE4}"/>
              </a:ext>
            </a:extLst>
          </p:cNvPr>
          <p:cNvSpPr>
            <a:spLocks noGrp="1"/>
          </p:cNvSpPr>
          <p:nvPr>
            <p:ph type="title"/>
          </p:nvPr>
        </p:nvSpPr>
        <p:spPr/>
        <p:txBody>
          <a:bodyPr>
            <a:normAutofit/>
          </a:bodyPr>
          <a:lstStyle/>
          <a:p>
            <a:r>
              <a:rPr lang="en-US" sz="1600" b="1" dirty="0"/>
              <a:t>vii. Timing Diagram</a:t>
            </a:r>
          </a:p>
        </p:txBody>
      </p:sp>
      <p:pic>
        <p:nvPicPr>
          <p:cNvPr id="6" name="Content Placeholder 5">
            <a:extLst>
              <a:ext uri="{FF2B5EF4-FFF2-40B4-BE49-F238E27FC236}">
                <a16:creationId xmlns:a16="http://schemas.microsoft.com/office/drawing/2014/main" id="{C37D74E2-E5E1-F75D-3FEC-CC5CE02EF9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0362" y="1558456"/>
            <a:ext cx="8030817" cy="4797894"/>
          </a:xfrm>
        </p:spPr>
      </p:pic>
      <p:sp>
        <p:nvSpPr>
          <p:cNvPr id="4" name="Footer Placeholder 3">
            <a:extLst>
              <a:ext uri="{FF2B5EF4-FFF2-40B4-BE49-F238E27FC236}">
                <a16:creationId xmlns:a16="http://schemas.microsoft.com/office/drawing/2014/main" id="{A01117C9-90E6-CE19-CACD-0F40E743D0A9}"/>
              </a:ext>
            </a:extLst>
          </p:cNvPr>
          <p:cNvSpPr>
            <a:spLocks noGrp="1"/>
          </p:cNvSpPr>
          <p:nvPr>
            <p:ph type="ftr" sz="quarter" idx="11"/>
          </p:nvPr>
        </p:nvSpPr>
        <p:spPr/>
        <p:txBody>
          <a:bodyPr/>
          <a:lstStyle/>
          <a:p>
            <a:r>
              <a:rPr lang="en-IN"/>
              <a:t>ICICC-2021</a:t>
            </a:r>
          </a:p>
        </p:txBody>
      </p:sp>
    </p:spTree>
    <p:extLst>
      <p:ext uri="{BB962C8B-B14F-4D97-AF65-F5344CB8AC3E}">
        <p14:creationId xmlns:p14="http://schemas.microsoft.com/office/powerpoint/2010/main" val="3929682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Implementation Details &amp; Roadmap</a:t>
            </a:r>
          </a:p>
        </p:txBody>
      </p:sp>
      <p:sp>
        <p:nvSpPr>
          <p:cNvPr id="3" name="Content Placeholder 2"/>
          <p:cNvSpPr>
            <a:spLocks noGrp="1"/>
          </p:cNvSpPr>
          <p:nvPr>
            <p:ph idx="1"/>
          </p:nvPr>
        </p:nvSpPr>
        <p:spPr/>
        <p:txBody>
          <a:bodyPr>
            <a:noAutofit/>
          </a:bodyPr>
          <a:lstStyle/>
          <a:p>
            <a:r>
              <a:rPr sz="2400" dirty="0"/>
              <a:t>Phase 1 (Week 1–4): Research, dataset collection, and architecture design.</a:t>
            </a:r>
          </a:p>
          <a:p>
            <a:r>
              <a:rPr sz="2400" dirty="0"/>
              <a:t>Phase 2 (Week 5–8): AI model development for heart disease prediction.</a:t>
            </a:r>
          </a:p>
          <a:p>
            <a:r>
              <a:rPr sz="2400" dirty="0"/>
              <a:t>Phase 3 (Week 9–12): Blockchain integration for secure record storage.</a:t>
            </a:r>
          </a:p>
          <a:p>
            <a:r>
              <a:rPr sz="2400" dirty="0"/>
              <a:t>Phase 4 (Week 13–16): Telemedicine and frontend integration.</a:t>
            </a:r>
          </a:p>
          <a:p>
            <a:r>
              <a:rPr sz="2400" dirty="0"/>
              <a:t>Tools: Python, Flask, Scikit-learn, Ethereum (Ganache), React, MongoDB.</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Findings from Reference Papers</a:t>
            </a:r>
          </a:p>
        </p:txBody>
      </p:sp>
      <p:sp>
        <p:nvSpPr>
          <p:cNvPr id="3" name="Content Placeholder 2"/>
          <p:cNvSpPr>
            <a:spLocks noGrp="1"/>
          </p:cNvSpPr>
          <p:nvPr>
            <p:ph idx="1"/>
          </p:nvPr>
        </p:nvSpPr>
        <p:spPr/>
        <p:txBody>
          <a:bodyPr>
            <a:normAutofit/>
          </a:bodyPr>
          <a:lstStyle/>
          <a:p>
            <a:pPr algn="just"/>
            <a:r>
              <a:rPr lang="en-US" sz="2000" dirty="0"/>
              <a:t>Several research studies highlight the effectiveness of Artificial Intelligence (AI) in accurately predicting cardiovascular diseases using patient data and medical parameters. These studies demonstrate that machine learning algorithms can significantly improve early diagnosis and treatment planning. Similarly, numerous papers emphasize the potential of Blockchain technology to enhance the security, transparency, and integrity of medical records.</a:t>
            </a:r>
          </a:p>
          <a:p>
            <a:pPr algn="just"/>
            <a:endParaRPr lang="en-US" sz="2000" dirty="0"/>
          </a:p>
          <a:p>
            <a:pPr algn="just"/>
            <a:r>
              <a:rPr lang="en-US" sz="2000" dirty="0"/>
              <a:t>The integration of AI and Blockchain, as discussed in recent research, presents a novel and trustworthy approach to modern healthcare. This combination not only improves diagnostic accuracy but also ensures secure, tamper-proof data management, thereby increasing patient trust and overall healthcare efficiency.</a:t>
            </a:r>
          </a:p>
          <a:p>
            <a:endParaRPr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Content Placeholder 2"/>
          <p:cNvSpPr>
            <a:spLocks noGrp="1"/>
          </p:cNvSpPr>
          <p:nvPr>
            <p:ph idx="1"/>
          </p:nvPr>
        </p:nvSpPr>
        <p:spPr/>
        <p:txBody>
          <a:bodyPr>
            <a:normAutofit/>
          </a:bodyPr>
          <a:lstStyle/>
          <a:p>
            <a:r>
              <a:rPr sz="2400" dirty="0"/>
              <a:t>1. Heart Disease UCI Dataset - Kaggle.</a:t>
            </a:r>
            <a:r>
              <a:rPr lang="en-US" sz="2400" dirty="0"/>
              <a:t> (https://www.kaggle.com/datasets/redwankarimsony/heart-disease-data)</a:t>
            </a:r>
            <a:endParaRPr sz="2400" dirty="0"/>
          </a:p>
          <a:p>
            <a:r>
              <a:rPr sz="2400" dirty="0"/>
              <a:t>2. IEEE Papers on AI in Healthcare.</a:t>
            </a:r>
            <a:r>
              <a:rPr lang="en-US" sz="2400" dirty="0"/>
              <a:t>(https://ieeexplore.ieee.org/document/9441741)</a:t>
            </a:r>
            <a:endParaRPr sz="2400" dirty="0"/>
          </a:p>
          <a:p>
            <a:r>
              <a:rPr sz="2400" dirty="0"/>
              <a:t>3. Blockchain Technology Documentation.</a:t>
            </a:r>
            <a:r>
              <a:rPr lang="en-US" sz="2400" dirty="0"/>
              <a:t>(https://blockchain.gov.in/Home/BlockChain?blockchain=blockchain)</a:t>
            </a:r>
          </a:p>
          <a:p>
            <a:pPr marL="0" indent="0">
              <a:buNone/>
            </a:pPr>
            <a:endParaRPr sz="2400" dirty="0"/>
          </a:p>
          <a:p>
            <a:r>
              <a:rPr sz="2400" dirty="0"/>
              <a:t>4. Research articles on AI-based health prediction models.</a:t>
            </a:r>
            <a:r>
              <a:rPr lang="en-US" sz="2400" dirty="0"/>
              <a:t>(https://pmc.ncbi.nlm.nih.gov/articles/PMC12525484/)</a:t>
            </a:r>
            <a:endParaRPr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482</TotalTime>
  <Words>1725</Words>
  <Application>Microsoft Office PowerPoint</Application>
  <PresentationFormat>Widescreen</PresentationFormat>
  <Paragraphs>243</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Comic Sans MS</vt:lpstr>
      <vt:lpstr>Times New Roman</vt:lpstr>
      <vt:lpstr>Office Theme</vt:lpstr>
      <vt:lpstr>PowerPoint Presentation</vt:lpstr>
      <vt:lpstr>PowerPoint Presentation</vt:lpstr>
      <vt:lpstr>Abstract</vt:lpstr>
      <vt:lpstr>Introduction</vt:lpstr>
      <vt:lpstr>Objectives</vt:lpstr>
      <vt:lpstr>Existing System</vt:lpstr>
      <vt:lpstr>Proposed System</vt:lpstr>
      <vt:lpstr>          Comparative Table</vt:lpstr>
      <vt:lpstr>Features of the Proposed System</vt:lpstr>
      <vt:lpstr>System Architecture</vt:lpstr>
      <vt:lpstr>Dataset Description</vt:lpstr>
      <vt:lpstr> Sample Attributes:</vt:lpstr>
      <vt:lpstr>Machine Learning Model</vt:lpstr>
      <vt:lpstr>How Decision Tree Works</vt:lpstr>
      <vt:lpstr>                                                               </vt:lpstr>
      <vt:lpstr>Model Prediction Flow</vt:lpstr>
      <vt:lpstr>Type of Blockchain Is Used</vt:lpstr>
      <vt:lpstr>Blockchain Integration</vt:lpstr>
      <vt:lpstr>Tech Stack Used</vt:lpstr>
      <vt:lpstr>Structural Diagrams</vt:lpstr>
      <vt:lpstr>ii. Object Diagram</vt:lpstr>
      <vt:lpstr>iii. Component Diagram</vt:lpstr>
      <vt:lpstr>iv. Deployment Diagram</vt:lpstr>
      <vt:lpstr>v. Package Diagram</vt:lpstr>
      <vt:lpstr>vi. Composite Structure Diagram</vt:lpstr>
      <vt:lpstr>vii. Profile Diagram</vt:lpstr>
      <vt:lpstr>Behavioral Diagram</vt:lpstr>
      <vt:lpstr>ii. Activity Diagram</vt:lpstr>
      <vt:lpstr>iii. State Machine Diagram</vt:lpstr>
      <vt:lpstr>iv. Sequence Diagram</vt:lpstr>
      <vt:lpstr>v. Communication Diagram</vt:lpstr>
      <vt:lpstr>vi. Interactive Overview Diagram</vt:lpstr>
      <vt:lpstr>vii. Timing Diagram</vt:lpstr>
      <vt:lpstr>Implementation Details &amp; Roadmap</vt:lpstr>
      <vt:lpstr>Findings from Reference Papers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MOOLCHAND SHARMA</dc:creator>
  <cp:lastModifiedBy>Sombabu Patel</cp:lastModifiedBy>
  <cp:revision>75</cp:revision>
  <dcterms:created xsi:type="dcterms:W3CDTF">2021-02-05T14:09:33Z</dcterms:created>
  <dcterms:modified xsi:type="dcterms:W3CDTF">2026-02-16T04:32:00Z</dcterms:modified>
</cp:coreProperties>
</file>